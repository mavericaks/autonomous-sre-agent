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Default Extension="mp4" ContentType="video/unknown"/>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96" r:id="rId3"/>
    <p:sldId id="288" r:id="rId4"/>
    <p:sldId id="277" r:id="rId5"/>
    <p:sldId id="282" r:id="rId6"/>
    <p:sldId id="259" r:id="rId7"/>
    <p:sldId id="260" r:id="rId8"/>
    <p:sldId id="261" r:id="rId9"/>
    <p:sldId id="262" r:id="rId10"/>
    <p:sldId id="263" r:id="rId11"/>
    <p:sldId id="264" r:id="rId12"/>
    <p:sldId id="283" r:id="rId13"/>
    <p:sldId id="267" r:id="rId14"/>
    <p:sldId id="292" r:id="rId15"/>
    <p:sldId id="273" r:id="rId16"/>
    <p:sldId id="294" r:id="rId17"/>
    <p:sldId id="295" r:id="rId18"/>
    <p:sldId id="278" r:id="rId19"/>
    <p:sldId id="297" r:id="rId20"/>
    <p:sldId id="279" r:id="rId21"/>
    <p:sldId id="274" r:id="rId22"/>
    <p:sldId id="289" r:id="rId23"/>
    <p:sldId id="275" r:id="rId24"/>
    <p:sldId id="280" r:id="rId25"/>
    <p:sldId id="281" r:id="rId26"/>
  </p:sldIdLst>
  <p:sldSz cx="14630400" cy="8229600"/>
  <p:notesSz cx="8229600" cy="14630400"/>
  <p:embeddedFontLst>
    <p:embeddedFont>
      <p:font typeface="Gadugi" pitchFamily="34" charset="0"/>
      <p:regular r:id="rId28"/>
      <p:bold r:id="rId29"/>
    </p:embeddedFont>
    <p:embeddedFont>
      <p:font typeface="Gelasio Semi Bold" charset="0"/>
      <p:regular r:id="rId30"/>
    </p:embeddedFont>
    <p:embeddedFont>
      <p:font typeface="Gelasio SemiBold" charset="0"/>
      <p:regular r:id="rId31"/>
      <p:bold r:id="rId32"/>
      <p:italic r:id="rId33"/>
      <p:boldItalic r:id="rId34"/>
    </p:embeddedFont>
    <p:embeddedFont>
      <p:font typeface="Gelasio" charset="0"/>
      <p:regular r:id="rId35"/>
      <p:bold r:id="rId36"/>
      <p:italic r:id="rId37"/>
      <p:boldItalic r:id="rId38"/>
    </p:embeddedFont>
    <p:embeddedFont>
      <p:font typeface="Calibri" pitchFamily="3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6558"/>
    <a:srgbClr val="F8F4F0"/>
    <a:srgbClr val="FFFF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264" y="260"/>
      </p:cViewPr>
      <p:guideLst>
        <p:guide orient="horz" pos="2592"/>
        <p:guide pos="4608"/>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8F4E0EB5-441C-4EBB-9209-435E374239A6}" type="datetimeFigureOut">
              <a:rPr lang="en-IN" smtClean="0"/>
              <a:t>24-11-2025</a:t>
            </a:fld>
            <a:endParaRPr lang="en-IN"/>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55DABE52-CD4C-45B9-A534-8FCDE8817B7C}" type="slidenum">
              <a:rPr lang="en-IN" smtClean="0"/>
              <a:t>‹#›</a:t>
            </a:fld>
            <a:endParaRPr lang="en-IN"/>
          </a:p>
        </p:txBody>
      </p:sp>
    </p:spTree>
    <p:extLst>
      <p:ext uri="{BB962C8B-B14F-4D97-AF65-F5344CB8AC3E}">
        <p14:creationId xmlns:p14="http://schemas.microsoft.com/office/powerpoint/2010/main" val="1862018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a2fca838f5_0_0: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a2fca838f5_0_0:notes"/>
          <p:cNvSpPr txBox="1">
            <a:spLocks noGrp="1"/>
          </p:cNvSpPr>
          <p:nvPr>
            <p:ph type="body" idx="1"/>
          </p:nvPr>
        </p:nvSpPr>
        <p:spPr>
          <a:xfrm>
            <a:off x="822325" y="6950075"/>
            <a:ext cx="6585000" cy="6583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3a2fca838f5_0_0:notes"/>
          <p:cNvSpPr txBox="1">
            <a:spLocks noGrp="1"/>
          </p:cNvSpPr>
          <p:nvPr>
            <p:ph type="sldNum" idx="12"/>
          </p:nvPr>
        </p:nvSpPr>
        <p:spPr>
          <a:xfrm>
            <a:off x="4660900" y="13896975"/>
            <a:ext cx="3567000" cy="730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3: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23:notes"/>
          <p:cNvSpPr txBox="1">
            <a:spLocks noGrp="1"/>
          </p:cNvSpPr>
          <p:nvPr>
            <p:ph type="body" idx="1"/>
          </p:nvPr>
        </p:nvSpPr>
        <p:spPr>
          <a:xfrm>
            <a:off x="822325" y="6950075"/>
            <a:ext cx="6584950" cy="65833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23:notes"/>
          <p:cNvSpPr txBox="1">
            <a:spLocks noGrp="1"/>
          </p:cNvSpPr>
          <p:nvPr>
            <p:ph type="sldNum" idx="12"/>
          </p:nvPr>
        </p:nvSpPr>
        <p:spPr>
          <a:xfrm>
            <a:off x="4660900" y="13896975"/>
            <a:ext cx="3567113" cy="73025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00000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1410" y="636454"/>
            <a:ext cx="4820007" cy="908566"/>
          </a:xfrm>
          <a:prstGeom prst="rect">
            <a:avLst/>
          </a:prstGeom>
        </p:spPr>
      </p:pic>
      <p:sp>
        <p:nvSpPr>
          <p:cNvPr id="3" name="Text 0"/>
          <p:cNvSpPr/>
          <p:nvPr/>
        </p:nvSpPr>
        <p:spPr>
          <a:xfrm>
            <a:off x="762014" y="1965569"/>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A Drift-Aware  Scheduling in 5G RAN</a:t>
            </a:r>
            <a:endParaRPr lang="en-US" sz="4450" dirty="0">
              <a:solidFill>
                <a:srgbClr val="746558"/>
              </a:solidFill>
            </a:endParaRPr>
          </a:p>
        </p:txBody>
      </p:sp>
      <p:sp>
        <p:nvSpPr>
          <p:cNvPr id="4" name="Shape 1"/>
          <p:cNvSpPr/>
          <p:nvPr/>
        </p:nvSpPr>
        <p:spPr>
          <a:xfrm>
            <a:off x="793790" y="3984546"/>
            <a:ext cx="13042821" cy="3266837"/>
          </a:xfrm>
          <a:prstGeom prst="roundRect">
            <a:avLst>
              <a:gd name="adj" fmla="val 1042"/>
            </a:avLst>
          </a:prstGeom>
          <a:noFill/>
          <a:ln w="7620">
            <a:solidFill>
              <a:srgbClr val="000000">
                <a:alpha val="8000"/>
              </a:srgbClr>
            </a:solidFill>
            <a:prstDash val="solid"/>
          </a:ln>
        </p:spPr>
      </p:sp>
      <p:sp>
        <p:nvSpPr>
          <p:cNvPr id="5" name="Shape 2"/>
          <p:cNvSpPr/>
          <p:nvPr/>
        </p:nvSpPr>
        <p:spPr>
          <a:xfrm>
            <a:off x="786170" y="3984546"/>
            <a:ext cx="13027581" cy="650319"/>
          </a:xfrm>
          <a:prstGeom prst="rect">
            <a:avLst/>
          </a:prstGeom>
          <a:solidFill>
            <a:srgbClr val="FFFFFF">
              <a:alpha val="4000"/>
            </a:srgbClr>
          </a:solidFill>
          <a:ln/>
        </p:spPr>
      </p:sp>
      <p:sp>
        <p:nvSpPr>
          <p:cNvPr id="6" name="Text 3"/>
          <p:cNvSpPr/>
          <p:nvPr/>
        </p:nvSpPr>
        <p:spPr>
          <a:xfrm>
            <a:off x="1028224" y="4135874"/>
            <a:ext cx="6056352" cy="362903"/>
          </a:xfrm>
          <a:prstGeom prst="rect">
            <a:avLst/>
          </a:prstGeom>
          <a:noFill/>
          <a:ln/>
        </p:spPr>
        <p:txBody>
          <a:bodyPr wrap="none" lIns="0" tIns="0" rIns="0" bIns="0" rtlCol="0" anchor="t"/>
          <a:lstStyle/>
          <a:p>
            <a:pPr marL="0" indent="0" algn="l">
              <a:lnSpc>
                <a:spcPts val="2850"/>
              </a:lnSpc>
              <a:buNone/>
            </a:pPr>
            <a:r>
              <a:rPr lang="en-US" sz="2500" b="1" dirty="0">
                <a:solidFill>
                  <a:srgbClr val="746558"/>
                </a:solidFill>
                <a:latin typeface="Gelasio" pitchFamily="34" charset="0"/>
                <a:ea typeface="Gelasio" pitchFamily="34" charset="-122"/>
                <a:cs typeface="Gelasio" pitchFamily="34" charset="-120"/>
              </a:rPr>
              <a:t>NAME</a:t>
            </a:r>
            <a:endParaRPr lang="en-US" sz="2500" b="1" dirty="0"/>
          </a:p>
        </p:txBody>
      </p:sp>
      <p:sp>
        <p:nvSpPr>
          <p:cNvPr id="7" name="Text 4"/>
          <p:cNvSpPr/>
          <p:nvPr/>
        </p:nvSpPr>
        <p:spPr>
          <a:xfrm>
            <a:off x="7545824" y="4135874"/>
            <a:ext cx="6056352" cy="362903"/>
          </a:xfrm>
          <a:prstGeom prst="rect">
            <a:avLst/>
          </a:prstGeom>
          <a:noFill/>
          <a:ln/>
        </p:spPr>
        <p:txBody>
          <a:bodyPr wrap="none" lIns="0" tIns="0" rIns="0" bIns="0" rtlCol="0" anchor="t"/>
          <a:lstStyle/>
          <a:p>
            <a:pPr marL="0" indent="0" algn="l">
              <a:lnSpc>
                <a:spcPts val="2850"/>
              </a:lnSpc>
              <a:buNone/>
            </a:pPr>
            <a:r>
              <a:rPr lang="en-US" sz="2500" b="1" dirty="0">
                <a:solidFill>
                  <a:srgbClr val="746558"/>
                </a:solidFill>
                <a:latin typeface="Gelasio" pitchFamily="34" charset="0"/>
                <a:ea typeface="Gelasio" pitchFamily="34" charset="-122"/>
                <a:cs typeface="Gelasio" pitchFamily="34" charset="-120"/>
              </a:rPr>
              <a:t>USN</a:t>
            </a:r>
            <a:endParaRPr lang="en-US" sz="2500" b="1" dirty="0"/>
          </a:p>
        </p:txBody>
      </p:sp>
      <p:sp>
        <p:nvSpPr>
          <p:cNvPr id="8" name="Shape 5"/>
          <p:cNvSpPr/>
          <p:nvPr/>
        </p:nvSpPr>
        <p:spPr>
          <a:xfrm>
            <a:off x="801410" y="4642485"/>
            <a:ext cx="13027581" cy="650319"/>
          </a:xfrm>
          <a:prstGeom prst="rect">
            <a:avLst/>
          </a:prstGeom>
          <a:solidFill>
            <a:srgbClr val="000000">
              <a:alpha val="4000"/>
            </a:srgbClr>
          </a:solidFill>
          <a:ln/>
        </p:spPr>
        <p:txBody>
          <a:bodyPr/>
          <a:lstStyle/>
          <a:p>
            <a:endParaRPr lang="en-IN" dirty="0"/>
          </a:p>
        </p:txBody>
      </p:sp>
      <p:sp>
        <p:nvSpPr>
          <p:cNvPr id="9" name="Text 6"/>
          <p:cNvSpPr/>
          <p:nvPr/>
        </p:nvSpPr>
        <p:spPr>
          <a:xfrm>
            <a:off x="1028224" y="4786193"/>
            <a:ext cx="6056352" cy="362903"/>
          </a:xfrm>
          <a:prstGeom prst="rect">
            <a:avLst/>
          </a:prstGeom>
          <a:noFill/>
          <a:ln/>
        </p:spPr>
        <p:txBody>
          <a:bodyPr wrap="none" lIns="0" tIns="0" rIns="0" bIns="0" rtlCol="0" anchor="t"/>
          <a:lstStyle/>
          <a:p>
            <a:pPr marL="0" indent="0" algn="l">
              <a:lnSpc>
                <a:spcPts val="2850"/>
              </a:lnSpc>
              <a:buNone/>
            </a:pPr>
            <a:r>
              <a:rPr lang="en-US" sz="2000" dirty="0">
                <a:solidFill>
                  <a:srgbClr val="746558"/>
                </a:solidFill>
                <a:latin typeface="Gelasio" pitchFamily="34" charset="0"/>
                <a:ea typeface="Gelasio" pitchFamily="34" charset="-122"/>
                <a:cs typeface="Gelasio" pitchFamily="34" charset="-120"/>
              </a:rPr>
              <a:t>Akshat Dodwad</a:t>
            </a:r>
            <a:endParaRPr lang="en-US" sz="2000" dirty="0"/>
          </a:p>
        </p:txBody>
      </p:sp>
      <p:sp>
        <p:nvSpPr>
          <p:cNvPr id="10" name="Text 7"/>
          <p:cNvSpPr/>
          <p:nvPr/>
        </p:nvSpPr>
        <p:spPr>
          <a:xfrm>
            <a:off x="7545824" y="4786193"/>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746558"/>
                </a:solidFill>
                <a:latin typeface="Gelasio" pitchFamily="34" charset="0"/>
                <a:ea typeface="Gelasio" pitchFamily="34" charset="-122"/>
                <a:cs typeface="Gelasio" pitchFamily="34" charset="-120"/>
              </a:rPr>
              <a:t>01FE23BCI045</a:t>
            </a:r>
            <a:endParaRPr lang="en-US" sz="1750" dirty="0"/>
          </a:p>
        </p:txBody>
      </p:sp>
      <p:sp>
        <p:nvSpPr>
          <p:cNvPr id="11" name="Shape 8"/>
          <p:cNvSpPr/>
          <p:nvPr/>
        </p:nvSpPr>
        <p:spPr>
          <a:xfrm>
            <a:off x="801410" y="5292804"/>
            <a:ext cx="13027581" cy="650319"/>
          </a:xfrm>
          <a:prstGeom prst="rect">
            <a:avLst/>
          </a:prstGeom>
          <a:solidFill>
            <a:srgbClr val="FFFFFF">
              <a:alpha val="4000"/>
            </a:srgbClr>
          </a:solidFill>
          <a:ln/>
        </p:spPr>
      </p:sp>
      <p:sp>
        <p:nvSpPr>
          <p:cNvPr id="12" name="Text 9"/>
          <p:cNvSpPr/>
          <p:nvPr/>
        </p:nvSpPr>
        <p:spPr>
          <a:xfrm>
            <a:off x="1028224" y="5436513"/>
            <a:ext cx="6056352" cy="362903"/>
          </a:xfrm>
          <a:prstGeom prst="rect">
            <a:avLst/>
          </a:prstGeom>
          <a:noFill/>
          <a:ln/>
        </p:spPr>
        <p:txBody>
          <a:bodyPr wrap="none" lIns="0" tIns="0" rIns="0" bIns="0" rtlCol="0" anchor="t"/>
          <a:lstStyle/>
          <a:p>
            <a:pPr marL="0" indent="0" algn="l">
              <a:lnSpc>
                <a:spcPts val="2850"/>
              </a:lnSpc>
              <a:buNone/>
            </a:pPr>
            <a:r>
              <a:rPr lang="en-US" sz="2000" dirty="0">
                <a:solidFill>
                  <a:srgbClr val="746558"/>
                </a:solidFill>
                <a:latin typeface="Gelasio" pitchFamily="34" charset="0"/>
                <a:ea typeface="Gelasio" pitchFamily="34" charset="-122"/>
                <a:cs typeface="Gelasio" pitchFamily="34" charset="-120"/>
              </a:rPr>
              <a:t>Naveen Huggi</a:t>
            </a:r>
            <a:endParaRPr lang="en-US" sz="2000" dirty="0"/>
          </a:p>
        </p:txBody>
      </p:sp>
      <p:sp>
        <p:nvSpPr>
          <p:cNvPr id="13" name="Text 10"/>
          <p:cNvSpPr/>
          <p:nvPr/>
        </p:nvSpPr>
        <p:spPr>
          <a:xfrm>
            <a:off x="7545824" y="5436513"/>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746558"/>
                </a:solidFill>
                <a:latin typeface="Gelasio" pitchFamily="34" charset="0"/>
                <a:ea typeface="Gelasio" pitchFamily="34" charset="-122"/>
                <a:cs typeface="Gelasio" pitchFamily="34" charset="-120"/>
              </a:rPr>
              <a:t>01FE23BCI056</a:t>
            </a:r>
            <a:endParaRPr lang="en-US" sz="1750" dirty="0"/>
          </a:p>
        </p:txBody>
      </p:sp>
      <p:sp>
        <p:nvSpPr>
          <p:cNvPr id="14" name="Shape 11"/>
          <p:cNvSpPr/>
          <p:nvPr/>
        </p:nvSpPr>
        <p:spPr>
          <a:xfrm>
            <a:off x="801410" y="5943124"/>
            <a:ext cx="13027581" cy="650319"/>
          </a:xfrm>
          <a:prstGeom prst="rect">
            <a:avLst/>
          </a:prstGeom>
          <a:solidFill>
            <a:srgbClr val="000000">
              <a:alpha val="4000"/>
            </a:srgbClr>
          </a:solidFill>
          <a:ln/>
        </p:spPr>
      </p:sp>
      <p:sp>
        <p:nvSpPr>
          <p:cNvPr id="15" name="Text 12"/>
          <p:cNvSpPr/>
          <p:nvPr/>
        </p:nvSpPr>
        <p:spPr>
          <a:xfrm>
            <a:off x="1028224" y="6086832"/>
            <a:ext cx="6056352" cy="362903"/>
          </a:xfrm>
          <a:prstGeom prst="rect">
            <a:avLst/>
          </a:prstGeom>
          <a:noFill/>
          <a:ln/>
        </p:spPr>
        <p:txBody>
          <a:bodyPr wrap="none" lIns="0" tIns="0" rIns="0" bIns="0" rtlCol="0" anchor="t"/>
          <a:lstStyle/>
          <a:p>
            <a:pPr marL="0" indent="0" algn="l">
              <a:lnSpc>
                <a:spcPts val="2850"/>
              </a:lnSpc>
              <a:buNone/>
            </a:pPr>
            <a:r>
              <a:rPr lang="en-US" sz="2000" dirty="0">
                <a:solidFill>
                  <a:srgbClr val="746558"/>
                </a:solidFill>
                <a:latin typeface="Gelasio" pitchFamily="34" charset="0"/>
                <a:ea typeface="Gelasio" pitchFamily="34" charset="-122"/>
                <a:cs typeface="Gelasio" pitchFamily="34" charset="-120"/>
              </a:rPr>
              <a:t>Abhishek M</a:t>
            </a:r>
            <a:endParaRPr lang="en-US" sz="2000" dirty="0"/>
          </a:p>
        </p:txBody>
      </p:sp>
      <p:sp>
        <p:nvSpPr>
          <p:cNvPr id="16" name="Text 13"/>
          <p:cNvSpPr/>
          <p:nvPr/>
        </p:nvSpPr>
        <p:spPr>
          <a:xfrm>
            <a:off x="7545824" y="6086832"/>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746558"/>
                </a:solidFill>
                <a:latin typeface="Gelasio" pitchFamily="34" charset="0"/>
                <a:ea typeface="Gelasio" pitchFamily="34" charset="-122"/>
                <a:cs typeface="Gelasio" pitchFamily="34" charset="-120"/>
              </a:rPr>
              <a:t>01FE23BCI116</a:t>
            </a:r>
            <a:endParaRPr lang="en-US" sz="1750" dirty="0"/>
          </a:p>
        </p:txBody>
      </p:sp>
      <p:sp>
        <p:nvSpPr>
          <p:cNvPr id="17" name="Shape 14"/>
          <p:cNvSpPr/>
          <p:nvPr/>
        </p:nvSpPr>
        <p:spPr>
          <a:xfrm>
            <a:off x="801410" y="6593443"/>
            <a:ext cx="13027581" cy="650319"/>
          </a:xfrm>
          <a:prstGeom prst="rect">
            <a:avLst/>
          </a:prstGeom>
          <a:solidFill>
            <a:srgbClr val="FFFFFF">
              <a:alpha val="4000"/>
            </a:srgbClr>
          </a:solidFill>
          <a:ln/>
        </p:spPr>
      </p:sp>
      <p:sp>
        <p:nvSpPr>
          <p:cNvPr id="18" name="Text 15"/>
          <p:cNvSpPr/>
          <p:nvPr/>
        </p:nvSpPr>
        <p:spPr>
          <a:xfrm>
            <a:off x="1028224" y="6737152"/>
            <a:ext cx="6056352" cy="362903"/>
          </a:xfrm>
          <a:prstGeom prst="rect">
            <a:avLst/>
          </a:prstGeom>
          <a:noFill/>
          <a:ln/>
        </p:spPr>
        <p:txBody>
          <a:bodyPr wrap="none" lIns="0" tIns="0" rIns="0" bIns="0" rtlCol="0" anchor="t"/>
          <a:lstStyle/>
          <a:p>
            <a:pPr marL="0" indent="0" algn="l">
              <a:lnSpc>
                <a:spcPts val="2850"/>
              </a:lnSpc>
              <a:buNone/>
            </a:pPr>
            <a:r>
              <a:rPr lang="en-US" sz="2000" dirty="0">
                <a:solidFill>
                  <a:srgbClr val="746558"/>
                </a:solidFill>
                <a:latin typeface="Gelasio" pitchFamily="34" charset="0"/>
                <a:ea typeface="Gelasio" pitchFamily="34" charset="-122"/>
                <a:cs typeface="Gelasio" pitchFamily="34" charset="-120"/>
              </a:rPr>
              <a:t>Riya M</a:t>
            </a:r>
            <a:endParaRPr lang="en-US" sz="2000" dirty="0"/>
          </a:p>
        </p:txBody>
      </p:sp>
      <p:sp>
        <p:nvSpPr>
          <p:cNvPr id="19" name="Text 16"/>
          <p:cNvSpPr/>
          <p:nvPr/>
        </p:nvSpPr>
        <p:spPr>
          <a:xfrm>
            <a:off x="7545824" y="6737152"/>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746558"/>
                </a:solidFill>
                <a:latin typeface="Gelasio" pitchFamily="34" charset="0"/>
                <a:ea typeface="Gelasio" pitchFamily="34" charset="-122"/>
                <a:cs typeface="Gelasio" pitchFamily="34" charset="-120"/>
              </a:rPr>
              <a:t>01FE23BCI096</a:t>
            </a:r>
            <a:endParaRPr lang="en-US" sz="1750" dirty="0"/>
          </a:p>
        </p:txBody>
      </p:sp>
      <p:sp>
        <p:nvSpPr>
          <p:cNvPr id="20" name="Rectangle 19">
            <a:extLst>
              <a:ext uri="{FF2B5EF4-FFF2-40B4-BE49-F238E27FC236}">
                <a16:creationId xmlns:a16="http://schemas.microsoft.com/office/drawing/2014/main" xmlns="" id="{A4AB619E-ED78-47EC-EA96-69B415E8BC26}"/>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801410" y="7562790"/>
            <a:ext cx="4416594" cy="400110"/>
          </a:xfrm>
          <a:prstGeom prst="rect">
            <a:avLst/>
          </a:prstGeom>
          <a:noFill/>
        </p:spPr>
        <p:txBody>
          <a:bodyPr wrap="none" rtlCol="0">
            <a:spAutoFit/>
          </a:bodyPr>
          <a:lstStyle/>
          <a:p>
            <a:r>
              <a:rPr lang="en-IN" sz="2000" b="1" dirty="0">
                <a:solidFill>
                  <a:srgbClr val="746558"/>
                </a:solidFill>
                <a:latin typeface="Gelasio Semi Bold" charset="0"/>
                <a:cs typeface="Gelasio Semi Bold" charset="0"/>
              </a:rPr>
              <a:t>Guided By : </a:t>
            </a:r>
            <a:r>
              <a:rPr lang="en-IN" sz="2000" b="1" dirty="0" err="1">
                <a:solidFill>
                  <a:srgbClr val="746558"/>
                </a:solidFill>
                <a:latin typeface="Gelasio Semi Bold" charset="0"/>
                <a:cs typeface="Gelasio Semi Bold" charset="0"/>
              </a:rPr>
              <a:t>Nagaratna</a:t>
            </a:r>
            <a:r>
              <a:rPr lang="en-IN" sz="2000" b="1" dirty="0">
                <a:solidFill>
                  <a:srgbClr val="746558"/>
                </a:solidFill>
                <a:latin typeface="Gelasio Semi Bold" charset="0"/>
                <a:cs typeface="Gelasio Semi Bold" charset="0"/>
              </a:rPr>
              <a:t> </a:t>
            </a:r>
            <a:r>
              <a:rPr lang="en-IN" sz="2000" b="1" dirty="0" err="1">
                <a:solidFill>
                  <a:srgbClr val="746558"/>
                </a:solidFill>
                <a:latin typeface="Gelasio Semi Bold" charset="0"/>
                <a:cs typeface="Gelasio Semi Bold" charset="0"/>
              </a:rPr>
              <a:t>Kulenavar</a:t>
            </a:r>
            <a:endParaRPr lang="en-IN" sz="2000" b="1" dirty="0">
              <a:solidFill>
                <a:srgbClr val="746558"/>
              </a:solidFill>
              <a:latin typeface="Gelasio Semi Bold" charset="0"/>
              <a:cs typeface="Gelasio Semi Bold"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p:nvPr/>
        </p:nvSpPr>
        <p:spPr>
          <a:xfrm>
            <a:off x="677935" y="1413345"/>
            <a:ext cx="13643700" cy="6617166"/>
          </a:xfrm>
          <a:prstGeom prst="rect">
            <a:avLst/>
          </a:prstGeom>
          <a:solidFill>
            <a:srgbClr val="F8F4F0"/>
          </a:solidFill>
          <a:ln>
            <a:noFill/>
          </a:ln>
        </p:spPr>
        <p:txBody>
          <a:bodyPr spcFirstLastPara="1" wrap="square" lIns="91425" tIns="91425" rIns="91425" bIns="91425" anchor="t" anchorCtr="0">
            <a:spAutoFit/>
          </a:bodyPr>
          <a:lstStyle/>
          <a:p>
            <a:pPr marL="342900" indent="-342900">
              <a:buFont typeface="Arial" pitchFamily="34" charset="0"/>
              <a:buChar char="•"/>
            </a:pPr>
            <a:r>
              <a:rPr lang="en-US" sz="2200" dirty="0">
                <a:solidFill>
                  <a:srgbClr val="746558"/>
                </a:solidFill>
                <a:latin typeface="Gelasio" charset="0"/>
                <a:cs typeface="Gelasio" charset="0"/>
              </a:rPr>
              <a:t>The shift from 4G to 5G and now toward 6G has pushed networks into a highly dynamic state, with dense deployments, heterogeneous devices, and strict latency requirements. This complexity makes network behavior far less predictable than in earlier generations</a:t>
            </a:r>
            <a:r>
              <a:rPr lang="en-US" sz="2200" dirty="0" smtClean="0">
                <a:solidFill>
                  <a:srgbClr val="746558"/>
                </a:solidFill>
                <a:latin typeface="Gelasio" charset="0"/>
                <a:cs typeface="Gelasio" charset="0"/>
              </a:rPr>
              <a:t>.</a:t>
            </a:r>
          </a:p>
          <a:p>
            <a:endParaRPr lang="en-US" sz="2200" dirty="0">
              <a:solidFill>
                <a:srgbClr val="746558"/>
              </a:solidFill>
              <a:latin typeface="Gelasio" charset="0"/>
              <a:cs typeface="Gelasio" charset="0"/>
            </a:endParaRPr>
          </a:p>
          <a:p>
            <a:pPr marL="342900" indent="-342900">
              <a:buFont typeface="Arial" pitchFamily="34" charset="0"/>
              <a:buChar char="•"/>
            </a:pPr>
            <a:r>
              <a:rPr lang="en-US" sz="2200" dirty="0">
                <a:solidFill>
                  <a:srgbClr val="746558"/>
                </a:solidFill>
                <a:latin typeface="Gelasio" charset="0"/>
                <a:cs typeface="Gelasio" charset="0"/>
              </a:rPr>
              <a:t>Static schedulers, which rely on fixed rules or predefined configurations, cannot keep up with such variability. They fail to respond effectively to fluctuating traffic loads, mobility patterns, and interference levels, leading to suboptimal performance</a:t>
            </a:r>
            <a:r>
              <a:rPr lang="en-US" sz="2200" dirty="0" smtClean="0">
                <a:solidFill>
                  <a:srgbClr val="746558"/>
                </a:solidFill>
                <a:latin typeface="Gelasio" charset="0"/>
                <a:cs typeface="Gelasio" charset="0"/>
              </a:rPr>
              <a:t>.</a:t>
            </a:r>
          </a:p>
          <a:p>
            <a:endParaRPr lang="en-US" sz="2200" dirty="0">
              <a:solidFill>
                <a:srgbClr val="746558"/>
              </a:solidFill>
              <a:latin typeface="Gelasio" charset="0"/>
              <a:cs typeface="Gelasio" charset="0"/>
            </a:endParaRPr>
          </a:p>
          <a:p>
            <a:pPr marL="342900" indent="-342900">
              <a:buFont typeface="Arial" pitchFamily="34" charset="0"/>
              <a:buChar char="•"/>
            </a:pPr>
            <a:r>
              <a:rPr lang="en-US" sz="2200" dirty="0" smtClean="0">
                <a:solidFill>
                  <a:srgbClr val="746558"/>
                </a:solidFill>
                <a:latin typeface="Gelasio" charset="0"/>
                <a:cs typeface="Gelasio" charset="0"/>
              </a:rPr>
              <a:t>AI/ML-driven </a:t>
            </a:r>
            <a:r>
              <a:rPr lang="en-US" sz="2200" dirty="0">
                <a:solidFill>
                  <a:srgbClr val="746558"/>
                </a:solidFill>
                <a:latin typeface="Gelasio" charset="0"/>
                <a:cs typeface="Gelasio" charset="0"/>
              </a:rPr>
              <a:t>schedulers leverage real-time data to continuously adjust resource allocation based on current network state. This enables fine-grained optimization of spectrum, power, and user scheduling, providing better </a:t>
            </a:r>
            <a:r>
              <a:rPr lang="en-US" sz="2200" dirty="0" err="1">
                <a:solidFill>
                  <a:srgbClr val="746558"/>
                </a:solidFill>
                <a:latin typeface="Gelasio" charset="0"/>
                <a:cs typeface="Gelasio" charset="0"/>
              </a:rPr>
              <a:t>QoS</a:t>
            </a:r>
            <a:r>
              <a:rPr lang="en-US" sz="2200" dirty="0">
                <a:solidFill>
                  <a:srgbClr val="746558"/>
                </a:solidFill>
                <a:latin typeface="Gelasio" charset="0"/>
                <a:cs typeface="Gelasio" charset="0"/>
              </a:rPr>
              <a:t> and responsiveness than rule-based methods</a:t>
            </a:r>
            <a:r>
              <a:rPr lang="en-US" sz="2200" dirty="0" smtClean="0">
                <a:solidFill>
                  <a:srgbClr val="746558"/>
                </a:solidFill>
                <a:latin typeface="Gelasio" charset="0"/>
                <a:cs typeface="Gelasio" charset="0"/>
              </a:rPr>
              <a:t>.</a:t>
            </a:r>
          </a:p>
          <a:p>
            <a:endParaRPr lang="en-US" sz="2200" dirty="0">
              <a:solidFill>
                <a:srgbClr val="746558"/>
              </a:solidFill>
              <a:latin typeface="Gelasio" charset="0"/>
              <a:cs typeface="Gelasio" charset="0"/>
            </a:endParaRPr>
          </a:p>
          <a:p>
            <a:pPr marL="342900" indent="-342900">
              <a:buFont typeface="Arial" pitchFamily="34" charset="0"/>
              <a:buChar char="•"/>
            </a:pPr>
            <a:r>
              <a:rPr lang="en-US" sz="2200" dirty="0" smtClean="0">
                <a:solidFill>
                  <a:srgbClr val="746558"/>
                </a:solidFill>
                <a:latin typeface="Gelasio" charset="0"/>
                <a:cs typeface="Gelasio" charset="0"/>
              </a:rPr>
              <a:t>When </a:t>
            </a:r>
            <a:r>
              <a:rPr lang="en-US" sz="2200" dirty="0">
                <a:solidFill>
                  <a:srgbClr val="746558"/>
                </a:solidFill>
                <a:latin typeface="Gelasio" charset="0"/>
                <a:cs typeface="Gelasio" charset="0"/>
              </a:rPr>
              <a:t>drift sets in, the scheduler may allocate resources inefficiently, causing SLA violations, drops in throughput, and delays in latency-critical applications. Real-time services like AR/VR, autonomous systems, or massive </a:t>
            </a:r>
            <a:r>
              <a:rPr lang="en-US" sz="2200" dirty="0" err="1">
                <a:solidFill>
                  <a:srgbClr val="746558"/>
                </a:solidFill>
                <a:latin typeface="Gelasio" charset="0"/>
                <a:cs typeface="Gelasio" charset="0"/>
              </a:rPr>
              <a:t>IoT</a:t>
            </a:r>
            <a:r>
              <a:rPr lang="en-US" sz="2200" dirty="0">
                <a:solidFill>
                  <a:srgbClr val="746558"/>
                </a:solidFill>
                <a:latin typeface="Gelasio" charset="0"/>
                <a:cs typeface="Gelasio" charset="0"/>
              </a:rPr>
              <a:t> are especially vulnerable</a:t>
            </a:r>
            <a:r>
              <a:rPr lang="en-US" sz="2200" dirty="0" smtClean="0">
                <a:solidFill>
                  <a:srgbClr val="746558"/>
                </a:solidFill>
                <a:latin typeface="Gelasio" charset="0"/>
                <a:cs typeface="Gelasio" charset="0"/>
              </a:rPr>
              <a:t>.</a:t>
            </a:r>
          </a:p>
          <a:p>
            <a:endParaRPr lang="en-US" sz="2200" dirty="0">
              <a:solidFill>
                <a:srgbClr val="746558"/>
              </a:solidFill>
              <a:latin typeface="Gelasio" charset="0"/>
              <a:cs typeface="Gelasio" charset="0"/>
            </a:endParaRPr>
          </a:p>
          <a:p>
            <a:pPr marL="342900" indent="-342900">
              <a:buFont typeface="Arial" pitchFamily="34" charset="0"/>
              <a:buChar char="•"/>
            </a:pPr>
            <a:r>
              <a:rPr lang="en-US" sz="2200" dirty="0">
                <a:solidFill>
                  <a:srgbClr val="746558"/>
                </a:solidFill>
                <a:latin typeface="Gelasio" charset="0"/>
                <a:cs typeface="Gelasio" charset="0"/>
              </a:rPr>
              <a:t>This creates a clear requirement for a drift-aware scheduling </a:t>
            </a:r>
            <a:r>
              <a:rPr lang="en-US" sz="2200" dirty="0" smtClean="0">
                <a:solidFill>
                  <a:srgbClr val="746558"/>
                </a:solidFill>
                <a:latin typeface="Gelasio" charset="0"/>
                <a:cs typeface="Gelasio" charset="0"/>
              </a:rPr>
              <a:t>—one </a:t>
            </a:r>
            <a:r>
              <a:rPr lang="en-US" sz="2200" dirty="0">
                <a:solidFill>
                  <a:srgbClr val="746558"/>
                </a:solidFill>
                <a:latin typeface="Gelasio" charset="0"/>
                <a:cs typeface="Gelasio" charset="0"/>
              </a:rPr>
              <a:t>that detects drift, adapts or retrains models proactively, and keeps the scheduler aligned with current network realities to ensure stable, high-quality performance.</a:t>
            </a:r>
          </a:p>
        </p:txBody>
      </p:sp>
      <p:sp>
        <p:nvSpPr>
          <p:cNvPr id="145" name="Google Shape;145;p30"/>
          <p:cNvSpPr txBox="1"/>
          <p:nvPr/>
        </p:nvSpPr>
        <p:spPr>
          <a:xfrm>
            <a:off x="748273" y="-363375"/>
            <a:ext cx="7786125" cy="2656466"/>
          </a:xfrm>
          <a:prstGeom prst="rect">
            <a:avLst/>
          </a:prstGeom>
          <a:noFill/>
          <a:ln>
            <a:noFill/>
          </a:ln>
        </p:spPr>
        <p:txBody>
          <a:bodyPr spcFirstLastPara="1" wrap="square" lIns="91425" tIns="91425" rIns="91425" bIns="91425" anchor="t" anchorCtr="0">
            <a:spAutoFit/>
          </a:bodyPr>
          <a:lstStyle/>
          <a:p>
            <a:pPr marL="0" lvl="0" indent="0" algn="l" rtl="0">
              <a:lnSpc>
                <a:spcPct val="257258"/>
              </a:lnSpc>
              <a:spcBef>
                <a:spcPts val="0"/>
              </a:spcBef>
              <a:spcAft>
                <a:spcPts val="0"/>
              </a:spcAft>
              <a:buNone/>
            </a:pPr>
            <a:r>
              <a:rPr lang="en-US" sz="4450" b="1" dirty="0">
                <a:solidFill>
                  <a:srgbClr val="746558"/>
                </a:solidFill>
                <a:latin typeface="Gelasio SemiBold"/>
                <a:ea typeface="Gelasio SemiBold"/>
                <a:cs typeface="Gelasio SemiBold"/>
                <a:sym typeface="Gelasio SemiBold"/>
              </a:rPr>
              <a:t>Motivation</a:t>
            </a:r>
          </a:p>
          <a:p>
            <a:pPr marL="0" lvl="0" indent="0" algn="l" rtl="0">
              <a:lnSpc>
                <a:spcPct val="257258"/>
              </a:lnSpc>
              <a:spcBef>
                <a:spcPts val="0"/>
              </a:spcBef>
              <a:spcAft>
                <a:spcPts val="0"/>
              </a:spcAft>
              <a:buNone/>
            </a:pPr>
            <a:endParaRPr dirty="0"/>
          </a:p>
        </p:txBody>
      </p:sp>
      <p:sp>
        <p:nvSpPr>
          <p:cNvPr id="2" name="Rectangle 1">
            <a:extLst>
              <a:ext uri="{FF2B5EF4-FFF2-40B4-BE49-F238E27FC236}">
                <a16:creationId xmlns:a16="http://schemas.microsoft.com/office/drawing/2014/main" xmlns="" id="{32AB0E5C-F724-E8F1-716F-67C8FD51FB16}"/>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A7AAF6E-F5F6-3696-2EE1-7A560B0F08EC}"/>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5475" y="1403699"/>
            <a:ext cx="4400550" cy="539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25" y="1635020"/>
            <a:ext cx="8620125"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72273" y="425349"/>
            <a:ext cx="7835799" cy="777136"/>
          </a:xfrm>
          <a:prstGeom prst="rect">
            <a:avLst/>
          </a:prstGeom>
          <a:noFill/>
        </p:spPr>
        <p:txBody>
          <a:bodyPr wrap="none" rtlCol="0">
            <a:spAutoFit/>
          </a:bodyPr>
          <a:lstStyle/>
          <a:p>
            <a:r>
              <a:rPr lang="en-IN" sz="4450" b="1" dirty="0">
                <a:solidFill>
                  <a:srgbClr val="746558"/>
                </a:solidFill>
                <a:latin typeface="Gelasio Semi Bold" charset="0"/>
                <a:cs typeface="Gelasio Semi Bold" charset="0"/>
              </a:rPr>
              <a:t>5g Standalone Architecture</a:t>
            </a:r>
          </a:p>
        </p:txBody>
      </p:sp>
      <p:sp>
        <p:nvSpPr>
          <p:cNvPr id="6" name="TextBox 5"/>
          <p:cNvSpPr txBox="1"/>
          <p:nvPr/>
        </p:nvSpPr>
        <p:spPr>
          <a:xfrm>
            <a:off x="190919" y="6435565"/>
            <a:ext cx="9341019" cy="323165"/>
          </a:xfrm>
          <a:prstGeom prst="rect">
            <a:avLst/>
          </a:prstGeom>
          <a:noFill/>
        </p:spPr>
        <p:txBody>
          <a:bodyPr wrap="none" rtlCol="0">
            <a:spAutoFit/>
          </a:bodyPr>
          <a:lstStyle/>
          <a:p>
            <a:r>
              <a:rPr lang="en-US" sz="1500" b="1" dirty="0">
                <a:solidFill>
                  <a:srgbClr val="746558"/>
                </a:solidFill>
                <a:latin typeface="Gelasio Semi Bold" charset="0"/>
                <a:cs typeface="Gelasio Semi Bold" charset="0"/>
              </a:rPr>
              <a:t>Fig. 1 </a:t>
            </a:r>
            <a:r>
              <a:rPr lang="en-US" sz="1500" b="1" i="1" dirty="0">
                <a:solidFill>
                  <a:srgbClr val="746558"/>
                </a:solidFill>
                <a:latin typeface="Gelasio Semi Bold" charset="0"/>
                <a:cs typeface="Gelasio Semi Bold" charset="0"/>
              </a:rPr>
              <a:t>Simplified overview of move from 4G architecture to 5G architecture with functional split.</a:t>
            </a:r>
            <a:endParaRPr lang="en-US" sz="1500" b="1" dirty="0">
              <a:solidFill>
                <a:srgbClr val="746558"/>
              </a:solidFill>
              <a:latin typeface="Gelasio Semi Bold" charset="0"/>
              <a:cs typeface="Gelasio Semi Bold" charset="0"/>
            </a:endParaRPr>
          </a:p>
        </p:txBody>
      </p:sp>
    </p:spTree>
    <p:extLst>
      <p:ext uri="{BB962C8B-B14F-4D97-AF65-F5344CB8AC3E}">
        <p14:creationId xmlns:p14="http://schemas.microsoft.com/office/powerpoint/2010/main" val="39731719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629960"/>
            <a:ext cx="5103614" cy="637937"/>
          </a:xfrm>
          <a:prstGeom prst="rect">
            <a:avLst/>
          </a:prstGeom>
          <a:noFill/>
          <a:ln/>
        </p:spPr>
        <p:txBody>
          <a:bodyPr wrap="none" lIns="0" tIns="0" rIns="0" bIns="0" rtlCol="0" anchor="t"/>
          <a:lstStyle/>
          <a:p>
            <a:pPr marL="0" indent="0" algn="l">
              <a:lnSpc>
                <a:spcPts val="5000"/>
              </a:lnSpc>
              <a:buNone/>
            </a:pPr>
            <a:r>
              <a:rPr lang="en-US" sz="4000" dirty="0">
                <a:solidFill>
                  <a:srgbClr val="746558"/>
                </a:solidFill>
                <a:latin typeface="Gelasio Semi Bold" pitchFamily="34" charset="0"/>
                <a:ea typeface="Gelasio Semi Bold" pitchFamily="34" charset="-122"/>
                <a:cs typeface="Gelasio Semi Bold" pitchFamily="34" charset="-120"/>
              </a:rPr>
              <a:t>Walkthrough</a:t>
            </a:r>
            <a:endParaRPr lang="en-US" sz="4000" dirty="0">
              <a:solidFill>
                <a:srgbClr val="746558"/>
              </a:solidFill>
            </a:endParaRPr>
          </a:p>
        </p:txBody>
      </p:sp>
      <p:pic>
        <p:nvPicPr>
          <p:cNvPr id="3" name="Image 0" descr="preencoded.png"/>
          <p:cNvPicPr>
            <a:picLocks noChangeAspect="1"/>
          </p:cNvPicPr>
          <p:nvPr/>
        </p:nvPicPr>
        <p:blipFill>
          <a:blip r:embed="rId3"/>
          <a:stretch>
            <a:fillRect/>
          </a:stretch>
        </p:blipFill>
        <p:spPr>
          <a:xfrm>
            <a:off x="793790" y="1676162"/>
            <a:ext cx="11738491" cy="5923478"/>
          </a:xfrm>
          <a:prstGeom prst="rect">
            <a:avLst/>
          </a:prstGeom>
        </p:spPr>
      </p:pic>
      <p:sp>
        <p:nvSpPr>
          <p:cNvPr id="4" name="Rectangle 3">
            <a:extLst>
              <a:ext uri="{FF2B5EF4-FFF2-40B4-BE49-F238E27FC236}">
                <a16:creationId xmlns:a16="http://schemas.microsoft.com/office/drawing/2014/main" xmlns="" id="{C9077985-FE5E-C726-DF60-70C3D7E4667E}"/>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4931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90" y="2311718"/>
            <a:ext cx="13042821" cy="725805"/>
          </a:xfrm>
          <a:prstGeom prst="rect">
            <a:avLst/>
          </a:prstGeom>
          <a:noFill/>
          <a:ln>
            <a:noFill/>
          </a:ln>
        </p:spPr>
        <p:txBody>
          <a:bodyPr wrap="square" lIns="0" tIns="0" rIns="0" bIns="0" rtlCol="0" anchor="t"/>
          <a:lstStyle/>
          <a:p>
            <a:pPr>
              <a:lnSpc>
                <a:spcPts val="2850"/>
              </a:lnSpc>
            </a:pPr>
            <a:r>
              <a:rPr lang="en-US" sz="3000" b="1" dirty="0">
                <a:solidFill>
                  <a:srgbClr val="746558"/>
                </a:solidFill>
                <a:latin typeface="Gelasio" charset="0"/>
                <a:cs typeface="Gelasio" charset="0"/>
              </a:rPr>
              <a:t>1. </a:t>
            </a:r>
            <a:r>
              <a:rPr lang="en-US" sz="3000" dirty="0">
                <a:solidFill>
                  <a:srgbClr val="746558"/>
                </a:solidFill>
                <a:latin typeface="Gelasio" charset="0"/>
                <a:cs typeface="Gelasio" charset="0"/>
              </a:rPr>
              <a:t>5G Scheduling Algorithm for Capacity Improvement Using Beam Division at Congested Traffic, </a:t>
            </a:r>
            <a:r>
              <a:rPr lang="en-US" sz="3000" b="1" i="1" dirty="0">
                <a:solidFill>
                  <a:srgbClr val="746558"/>
                </a:solidFill>
                <a:latin typeface="Gelasio" charset="0"/>
                <a:cs typeface="Gelasio" charset="0"/>
              </a:rPr>
              <a:t>Journal of Engineering Science and Technology</a:t>
            </a:r>
            <a:r>
              <a:rPr lang="en-US" sz="3000" b="1" dirty="0">
                <a:solidFill>
                  <a:srgbClr val="746558"/>
                </a:solidFill>
                <a:latin typeface="Gelasio" charset="0"/>
                <a:cs typeface="Gelasio" charset="0"/>
              </a:rPr>
              <a:t>, 2021</a:t>
            </a:r>
          </a:p>
          <a:p>
            <a:pPr marL="0" indent="0" algn="l">
              <a:lnSpc>
                <a:spcPts val="2850"/>
              </a:lnSpc>
              <a:buNone/>
            </a:pPr>
            <a:endParaRPr lang="en-US" sz="1750" dirty="0"/>
          </a:p>
        </p:txBody>
      </p:sp>
      <p:sp>
        <p:nvSpPr>
          <p:cNvPr id="4" name="Text 2"/>
          <p:cNvSpPr/>
          <p:nvPr/>
        </p:nvSpPr>
        <p:spPr>
          <a:xfrm>
            <a:off x="793789" y="3611650"/>
            <a:ext cx="13042821" cy="1451610"/>
          </a:xfrm>
          <a:prstGeom prst="rect">
            <a:avLst/>
          </a:prstGeom>
          <a:noFill/>
          <a:ln/>
        </p:spPr>
        <p:txBody>
          <a:bodyPr wrap="square" lIns="0" tIns="0" rIns="0" bIns="0" rtlCol="0" anchor="t"/>
          <a:lstStyle/>
          <a:p>
            <a:pPr marL="285750" indent="-285750" algn="just">
              <a:buFont typeface="Arial" pitchFamily="34" charset="0"/>
              <a:buChar char="•"/>
            </a:pPr>
            <a:r>
              <a:rPr lang="en-US" sz="1750" b="1" dirty="0">
                <a:solidFill>
                  <a:srgbClr val="746558"/>
                </a:solidFill>
                <a:latin typeface="Gelasio" charset="0"/>
                <a:cs typeface="Gelasio" charset="0"/>
              </a:rPr>
              <a:t>Methodology:</a:t>
            </a:r>
            <a:r>
              <a:rPr lang="en-US" sz="1750" dirty="0">
                <a:solidFill>
                  <a:srgbClr val="746558"/>
                </a:solidFill>
                <a:latin typeface="Gelasio" charset="0"/>
                <a:cs typeface="Gelasio" charset="0"/>
              </a:rPr>
              <a:t> Introduces a BDMA-based scheduling algorithm activated under congestion, where user count exceeds available beams. The method dynamically splits a beam into two narrower sub-beams, allowing a single antenna to serve both an existing and a nearby new user simultaneously, optimizing beam utilization.</a:t>
            </a:r>
          </a:p>
        </p:txBody>
      </p:sp>
      <p:sp>
        <p:nvSpPr>
          <p:cNvPr id="5" name="Text 3"/>
          <p:cNvSpPr/>
          <p:nvPr/>
        </p:nvSpPr>
        <p:spPr>
          <a:xfrm>
            <a:off x="793790" y="4823579"/>
            <a:ext cx="13042821" cy="1088708"/>
          </a:xfrm>
          <a:prstGeom prst="rect">
            <a:avLst/>
          </a:prstGeom>
          <a:noFill/>
          <a:ln/>
        </p:spPr>
        <p:txBody>
          <a:bodyPr wrap="square" lIns="0" tIns="0" rIns="0" bIns="0" rtlCol="0" anchor="t"/>
          <a:lstStyle/>
          <a:p>
            <a:pPr marL="285750" indent="-285750" algn="just">
              <a:buFont typeface="Arial" pitchFamily="34" charset="0"/>
              <a:buChar char="•"/>
            </a:pPr>
            <a:r>
              <a:rPr lang="en-US" sz="1750" b="1" dirty="0">
                <a:solidFill>
                  <a:srgbClr val="746558"/>
                </a:solidFill>
                <a:latin typeface="Gelasio" charset="0"/>
                <a:cs typeface="Gelasio" charset="0"/>
              </a:rPr>
              <a:t>Key Results: </a:t>
            </a:r>
            <a:r>
              <a:rPr lang="en-US" sz="1750" dirty="0">
                <a:solidFill>
                  <a:srgbClr val="746558"/>
                </a:solidFill>
                <a:latin typeface="Gelasio" charset="0"/>
                <a:cs typeface="Gelasio" charset="0"/>
              </a:rPr>
              <a:t>Simulation results show up to 50% increase in total cell throughput and improved system fairness under heavy load. Although individual user throughput slightly decreases when beams are split, the overall cell capacity and service accessibility improve significantly.</a:t>
            </a:r>
          </a:p>
        </p:txBody>
      </p:sp>
      <p:sp>
        <p:nvSpPr>
          <p:cNvPr id="6" name="Text 4"/>
          <p:cNvSpPr/>
          <p:nvPr/>
        </p:nvSpPr>
        <p:spPr>
          <a:xfrm>
            <a:off x="793790" y="5991582"/>
            <a:ext cx="13042821" cy="1088708"/>
          </a:xfrm>
          <a:prstGeom prst="rect">
            <a:avLst/>
          </a:prstGeom>
          <a:noFill/>
          <a:ln/>
        </p:spPr>
        <p:txBody>
          <a:bodyPr wrap="square" lIns="0" tIns="0" rIns="0" bIns="0" rtlCol="0" anchor="t"/>
          <a:lstStyle/>
          <a:p>
            <a:pPr marL="285750" indent="-285750" algn="just">
              <a:buFont typeface="Arial" pitchFamily="34" charset="0"/>
              <a:buChar char="•"/>
            </a:pPr>
            <a:r>
              <a:rPr lang="en-US" sz="1750" b="1" dirty="0">
                <a:solidFill>
                  <a:srgbClr val="746558"/>
                </a:solidFill>
                <a:latin typeface="Gelasio" charset="0"/>
                <a:cs typeface="Gelasio" charset="0"/>
              </a:rPr>
              <a:t>Limitations:</a:t>
            </a:r>
            <a:r>
              <a:rPr lang="en-US" sz="1750" dirty="0">
                <a:solidFill>
                  <a:srgbClr val="746558"/>
                </a:solidFill>
                <a:latin typeface="Gelasio" charset="0"/>
                <a:cs typeface="Gelasio" charset="0"/>
              </a:rPr>
              <a:t> Effective only when users are spatially close and near the base station, since beam splitting divides transmit power. The evaluation ignores noise and interference, which may impact real-world performance and limit scalability in practical deployments.</a:t>
            </a:r>
          </a:p>
        </p:txBody>
      </p:sp>
      <p:sp>
        <p:nvSpPr>
          <p:cNvPr id="7" name="Rectangle 6">
            <a:extLst>
              <a:ext uri="{FF2B5EF4-FFF2-40B4-BE49-F238E27FC236}">
                <a16:creationId xmlns:a16="http://schemas.microsoft.com/office/drawing/2014/main" xmlns="" id="{E21E37FD-FD5A-D7CC-314D-3FA6F8B9E609}"/>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38386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4931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90" y="2311718"/>
            <a:ext cx="13042821" cy="725805"/>
          </a:xfrm>
          <a:prstGeom prst="rect">
            <a:avLst/>
          </a:prstGeom>
          <a:noFill/>
          <a:ln/>
        </p:spPr>
        <p:txBody>
          <a:bodyPr wrap="square" lIns="0" tIns="0" rIns="0" bIns="0" rtlCol="0" anchor="t"/>
          <a:lstStyle/>
          <a:p>
            <a:pPr marL="0" indent="0" algn="l">
              <a:lnSpc>
                <a:spcPts val="2850"/>
              </a:lnSpc>
              <a:buNone/>
            </a:pPr>
            <a:r>
              <a:rPr lang="en-US" sz="3000" b="1" dirty="0">
                <a:solidFill>
                  <a:srgbClr val="746558"/>
                </a:solidFill>
                <a:latin typeface="Gelasio" pitchFamily="34" charset="0"/>
                <a:ea typeface="Gelasio" pitchFamily="34" charset="-122"/>
                <a:cs typeface="Gelasio" pitchFamily="34" charset="-120"/>
              </a:rPr>
              <a:t>2. </a:t>
            </a:r>
            <a:r>
              <a:rPr lang="en-US" sz="3000" dirty="0">
                <a:solidFill>
                  <a:srgbClr val="746558"/>
                </a:solidFill>
                <a:latin typeface="Gelasio" pitchFamily="34" charset="0"/>
                <a:ea typeface="Gelasio" pitchFamily="34" charset="-122"/>
                <a:cs typeface="Gelasio" pitchFamily="34" charset="-120"/>
              </a:rPr>
              <a:t>The drift handling framework for open radio access networks: An experimental evaluation, </a:t>
            </a:r>
            <a:r>
              <a:rPr lang="en-US" sz="3000" b="1" i="1" dirty="0">
                <a:solidFill>
                  <a:srgbClr val="746558"/>
                </a:solidFill>
                <a:latin typeface="Gelasio" pitchFamily="34" charset="0"/>
                <a:ea typeface="Gelasio" pitchFamily="34" charset="-122"/>
                <a:cs typeface="Gelasio" pitchFamily="34" charset="-120"/>
              </a:rPr>
              <a:t>Computer Networks, 2024</a:t>
            </a:r>
            <a:endParaRPr lang="en-US" sz="3000" dirty="0"/>
          </a:p>
        </p:txBody>
      </p:sp>
      <p:sp>
        <p:nvSpPr>
          <p:cNvPr id="4" name="Text 2"/>
          <p:cNvSpPr/>
          <p:nvPr/>
        </p:nvSpPr>
        <p:spPr>
          <a:xfrm>
            <a:off x="793790" y="3292673"/>
            <a:ext cx="13042821" cy="1451610"/>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Proposes a three-stage drift handling framework for Open RAN: (1) drift detection—monitors AI/ML model performance (RMSE) against a threshold; (2) drift analysis—identifies drift type (sudden or incremental); (3) drift adaptation—selects an appropriate response, such as retraining the current model or replacing it from a pre-certified model list. Evaluated experimentally on OSC and OAI FlexRIC platforms.</a:t>
            </a:r>
            <a:endParaRPr lang="en-US" sz="1750" dirty="0"/>
          </a:p>
        </p:txBody>
      </p:sp>
      <p:sp>
        <p:nvSpPr>
          <p:cNvPr id="5" name="Text 3"/>
          <p:cNvSpPr/>
          <p:nvPr/>
        </p:nvSpPr>
        <p:spPr>
          <a:xfrm>
            <a:off x="793790" y="4823579"/>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Outperforms state-of-the-art methods (OCDD, CNDH) across QoS, CQI, and user traffic prediction tasks. Achieves higher accuracy, precision, and F1-score in drift detection. By analyzing drift promptly, it selects effective adaptation strategies, reducing SLA violations and improving resource utilization in dynamic network conditions.</a:t>
            </a:r>
            <a:endParaRPr lang="en-US" sz="1750" dirty="0"/>
          </a:p>
        </p:txBody>
      </p:sp>
      <p:sp>
        <p:nvSpPr>
          <p:cNvPr id="6" name="Text 4"/>
          <p:cNvSpPr/>
          <p:nvPr/>
        </p:nvSpPr>
        <p:spPr>
          <a:xfrm>
            <a:off x="793790" y="5991582"/>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Relies on the availability of pre-certified replacement models, which may not always be optimal. Model retraining and deployment times can impact RAN control loop responsiveness. Future work is needed to predict the optimal retraining timing and location (edge vs. cloud) to minimize performance impact.</a:t>
            </a:r>
            <a:endParaRPr lang="en-US" sz="1750" dirty="0"/>
          </a:p>
        </p:txBody>
      </p:sp>
      <p:sp>
        <p:nvSpPr>
          <p:cNvPr id="7" name="Rectangle 6">
            <a:extLst>
              <a:ext uri="{FF2B5EF4-FFF2-40B4-BE49-F238E27FC236}">
                <a16:creationId xmlns:a16="http://schemas.microsoft.com/office/drawing/2014/main" xmlns="" id="{09387C30-3D36-AF2F-DAB3-B9F2B5EAEE68}"/>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5858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90" y="2220992"/>
            <a:ext cx="13042821" cy="725805"/>
          </a:xfrm>
          <a:prstGeom prst="rect">
            <a:avLst/>
          </a:prstGeom>
          <a:noFill/>
          <a:ln/>
        </p:spPr>
        <p:txBody>
          <a:bodyPr wrap="square" lIns="0" tIns="0" rIns="0" bIns="0" rtlCol="0" anchor="t"/>
          <a:lstStyle/>
          <a:p>
            <a:pPr marL="0" indent="0" algn="l">
              <a:lnSpc>
                <a:spcPts val="2850"/>
              </a:lnSpc>
              <a:buNone/>
            </a:pPr>
            <a:r>
              <a:rPr lang="en-US" sz="3000" b="1" dirty="0">
                <a:solidFill>
                  <a:srgbClr val="746558"/>
                </a:solidFill>
                <a:latin typeface="Gelasio" pitchFamily="34" charset="0"/>
                <a:ea typeface="Gelasio" pitchFamily="34" charset="-122"/>
                <a:cs typeface="Gelasio" pitchFamily="34" charset="-120"/>
              </a:rPr>
              <a:t>3. </a:t>
            </a:r>
            <a:r>
              <a:rPr lang="en-US" sz="3000" dirty="0">
                <a:solidFill>
                  <a:srgbClr val="746558"/>
                </a:solidFill>
                <a:latin typeface="Gelasio" pitchFamily="34" charset="0"/>
                <a:ea typeface="Gelasio" pitchFamily="34" charset="-122"/>
                <a:cs typeface="Gelasio" pitchFamily="34" charset="-120"/>
              </a:rPr>
              <a:t>Optimizing 5G Network Slices: LSTM and Game Theory Synergy, </a:t>
            </a:r>
            <a:r>
              <a:rPr lang="en-US" sz="3000" b="1" i="1" dirty="0">
                <a:solidFill>
                  <a:srgbClr val="746558"/>
                </a:solidFill>
                <a:latin typeface="Gelasio" pitchFamily="34" charset="0"/>
                <a:ea typeface="Gelasio" pitchFamily="34" charset="-122"/>
                <a:cs typeface="Gelasio" pitchFamily="34" charset="-120"/>
              </a:rPr>
              <a:t>2025 International Conference on Computing, Networking and Communications (ICNC), 2025</a:t>
            </a:r>
            <a:endParaRPr lang="en-US" sz="3000" b="1" dirty="0"/>
          </a:p>
        </p:txBody>
      </p:sp>
      <p:sp>
        <p:nvSpPr>
          <p:cNvPr id="4" name="Text 2"/>
          <p:cNvSpPr/>
          <p:nvPr/>
        </p:nvSpPr>
        <p:spPr>
          <a:xfrm>
            <a:off x="793790" y="3746302"/>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Proposes a two-stage 5G slice optimization approach—first, an LSTM model predicts traffic for eMBB, mMTC, and URLLC slices; second, a game theory-based algorithm dynamically allocates shared resources (memory, bandwidth) based on predicted demand. Resource updates occur only when demand changes exceed a defined threshold.</a:t>
            </a:r>
            <a:endParaRPr lang="en-US" sz="1750" dirty="0"/>
          </a:p>
        </p:txBody>
      </p:sp>
      <p:sp>
        <p:nvSpPr>
          <p:cNvPr id="5" name="Text 3"/>
          <p:cNvSpPr/>
          <p:nvPr/>
        </p:nvSpPr>
        <p:spPr>
          <a:xfrm>
            <a:off x="793790" y="5157351"/>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The LSTM achieves low MSE values (eMBB 0.0082, mMTC 0.0097, URLLC 0.0178), and the hybrid LSTM + game theory approach ensures fair, adaptive resource allocation among NFs. The method supports customization for varying service-level objectives.</a:t>
            </a:r>
            <a:endParaRPr lang="en-US" sz="1750" dirty="0"/>
          </a:p>
        </p:txBody>
      </p:sp>
      <p:sp>
        <p:nvSpPr>
          <p:cNvPr id="6" name="Text 4"/>
          <p:cNvSpPr/>
          <p:nvPr/>
        </p:nvSpPr>
        <p:spPr>
          <a:xfrm>
            <a:off x="793789" y="644509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Based on simulated traffic, not real-world traces; assumes a single cluster instead of a full E2E (RAN–TN–CN) network; serves as a conceptual framework rather than a deployable solution.</a:t>
            </a:r>
            <a:endParaRPr lang="en-US" sz="1750" dirty="0"/>
          </a:p>
        </p:txBody>
      </p:sp>
      <p:sp>
        <p:nvSpPr>
          <p:cNvPr id="7" name="Text 5"/>
          <p:cNvSpPr/>
          <p:nvPr/>
        </p:nvSpPr>
        <p:spPr>
          <a:xfrm>
            <a:off x="793790" y="6603921"/>
            <a:ext cx="4536519" cy="566976"/>
          </a:xfrm>
          <a:prstGeom prst="rect">
            <a:avLst/>
          </a:prstGeom>
          <a:noFill/>
          <a:ln/>
        </p:spPr>
        <p:txBody>
          <a:bodyPr wrap="none" lIns="0" tIns="0" rIns="0" bIns="0" rtlCol="0" anchor="t"/>
          <a:lstStyle/>
          <a:p>
            <a:pPr marL="0" indent="0" algn="l">
              <a:lnSpc>
                <a:spcPts val="4450"/>
              </a:lnSpc>
              <a:buNone/>
            </a:pPr>
            <a:endParaRPr lang="en-US" sz="3550" dirty="0"/>
          </a:p>
        </p:txBody>
      </p:sp>
      <p:sp>
        <p:nvSpPr>
          <p:cNvPr id="8" name="Rectangle 7">
            <a:extLst>
              <a:ext uri="{FF2B5EF4-FFF2-40B4-BE49-F238E27FC236}">
                <a16:creationId xmlns:a16="http://schemas.microsoft.com/office/drawing/2014/main" xmlns="" id="{E12F5475-EB56-E2DB-CA32-1EE8D5455B0F}"/>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1691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88" y="2108835"/>
            <a:ext cx="13042821" cy="725805"/>
          </a:xfrm>
          <a:prstGeom prst="rect">
            <a:avLst/>
          </a:prstGeom>
          <a:noFill/>
          <a:ln/>
        </p:spPr>
        <p:txBody>
          <a:bodyPr wrap="square" lIns="0" tIns="0" rIns="0" bIns="0" rtlCol="0" anchor="t"/>
          <a:lstStyle/>
          <a:p>
            <a:pPr marL="0" indent="0" algn="l">
              <a:lnSpc>
                <a:spcPts val="2850"/>
              </a:lnSpc>
              <a:buNone/>
            </a:pPr>
            <a:r>
              <a:rPr lang="en-US" sz="3000" b="1" dirty="0">
                <a:solidFill>
                  <a:srgbClr val="746558"/>
                </a:solidFill>
                <a:latin typeface="Gelasio" pitchFamily="34" charset="0"/>
                <a:ea typeface="Gelasio" pitchFamily="34" charset="-122"/>
                <a:cs typeface="Gelasio" pitchFamily="34" charset="-120"/>
              </a:rPr>
              <a:t>4. </a:t>
            </a:r>
            <a:r>
              <a:rPr lang="en-US" sz="3000" dirty="0">
                <a:solidFill>
                  <a:srgbClr val="746558"/>
                </a:solidFill>
                <a:latin typeface="Gelasio" pitchFamily="34" charset="0"/>
                <a:ea typeface="Gelasio" pitchFamily="34" charset="-122"/>
                <a:cs typeface="Gelasio" pitchFamily="34" charset="-120"/>
              </a:rPr>
              <a:t>Channel-Aware 5G RAN Slicing with Customizable Schedulers, </a:t>
            </a:r>
            <a:r>
              <a:rPr lang="en-US" sz="3000" b="1" i="1" dirty="0">
                <a:solidFill>
                  <a:srgbClr val="746558"/>
                </a:solidFill>
                <a:latin typeface="Gelasio" pitchFamily="34" charset="0"/>
                <a:ea typeface="Gelasio" pitchFamily="34" charset="-122"/>
                <a:cs typeface="Gelasio" pitchFamily="34" charset="-120"/>
              </a:rPr>
              <a:t>20th USENIX Symposium on Networked Systems Design and Implementation (NSDI), 2023</a:t>
            </a:r>
            <a:endParaRPr lang="en-US" sz="3000" dirty="0"/>
          </a:p>
        </p:txBody>
      </p:sp>
      <p:sp>
        <p:nvSpPr>
          <p:cNvPr id="4" name="Text 2"/>
          <p:cNvSpPr/>
          <p:nvPr/>
        </p:nvSpPr>
        <p:spPr>
          <a:xfrm>
            <a:off x="793790" y="3655576"/>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Introduces RadioSaber, a RAN slicing framework enabling channel-aware resource allocation at inter- and intra-slice levels. It resolves scheduler cyclic dependencies by using greedy algorithms and provides enterprises with a parameterized interface to implement customizable policies like Proportional Fair (PF) or Max Throughput (MT).</a:t>
            </a:r>
            <a:endParaRPr lang="en-US" sz="1750" dirty="0"/>
          </a:p>
        </p:txBody>
      </p:sp>
      <p:sp>
        <p:nvSpPr>
          <p:cNvPr id="5" name="Text 3"/>
          <p:cNvSpPr/>
          <p:nvPr/>
        </p:nvSpPr>
        <p:spPr>
          <a:xfrm>
            <a:off x="793790" y="4823579"/>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Trace-driven simulations show 17%-72% higher throughput than the channel-agnostic NVS scheduler, while maintaining fairness and isolation. RadioSaber reduces Flow Completion Times and packet delays by leveraging complementary channel quality distributions across slices.</a:t>
            </a:r>
            <a:endParaRPr lang="en-US" sz="1750" dirty="0"/>
          </a:p>
        </p:txBody>
      </p:sp>
      <p:sp>
        <p:nvSpPr>
          <p:cNvPr id="6" name="Text 4"/>
          <p:cNvSpPr/>
          <p:nvPr/>
        </p:nvSpPr>
        <p:spPr>
          <a:xfrm>
            <a:off x="793790" y="599158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Evaluated only in a simulator (not real-world testbed), limited to downlink allocation, and restricts enterprise policies to greedy algorithms, potentially excluding more optimal non-greedy strategies.</a:t>
            </a:r>
            <a:endParaRPr lang="en-US" sz="1750" dirty="0"/>
          </a:p>
        </p:txBody>
      </p:sp>
      <p:sp>
        <p:nvSpPr>
          <p:cNvPr id="7" name="Rectangle 6">
            <a:extLst>
              <a:ext uri="{FF2B5EF4-FFF2-40B4-BE49-F238E27FC236}">
                <a16:creationId xmlns:a16="http://schemas.microsoft.com/office/drawing/2014/main" xmlns="" id="{282DAFEB-974E-5C96-D153-8F72F370C51B}"/>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4816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89" y="2035969"/>
            <a:ext cx="13042821" cy="725805"/>
          </a:xfrm>
          <a:prstGeom prst="rect">
            <a:avLst/>
          </a:prstGeom>
          <a:noFill/>
          <a:ln/>
        </p:spPr>
        <p:txBody>
          <a:bodyPr wrap="square" lIns="0" tIns="0" rIns="0" bIns="0" rtlCol="0" anchor="t"/>
          <a:lstStyle/>
          <a:p>
            <a:pPr marL="0" indent="0" algn="l">
              <a:lnSpc>
                <a:spcPts val="2850"/>
              </a:lnSpc>
              <a:buNone/>
            </a:pPr>
            <a:r>
              <a:rPr lang="en-US" sz="3000" b="1" dirty="0">
                <a:solidFill>
                  <a:srgbClr val="746558"/>
                </a:solidFill>
                <a:latin typeface="Gelasio" pitchFamily="34" charset="0"/>
                <a:ea typeface="Gelasio" pitchFamily="34" charset="-122"/>
                <a:cs typeface="Gelasio" pitchFamily="34" charset="-120"/>
              </a:rPr>
              <a:t>5</a:t>
            </a:r>
            <a:r>
              <a:rPr lang="en-US" sz="3000" dirty="0">
                <a:solidFill>
                  <a:srgbClr val="746558"/>
                </a:solidFill>
                <a:latin typeface="Gelasio" pitchFamily="34" charset="0"/>
                <a:ea typeface="Gelasio" pitchFamily="34" charset="-122"/>
                <a:cs typeface="Gelasio" pitchFamily="34" charset="-120"/>
              </a:rPr>
              <a:t>. </a:t>
            </a:r>
            <a:r>
              <a:rPr lang="en-US" sz="3000" b="1" dirty="0">
                <a:solidFill>
                  <a:srgbClr val="746558"/>
                </a:solidFill>
                <a:latin typeface="Gelasio" pitchFamily="34" charset="0"/>
                <a:ea typeface="Gelasio" pitchFamily="34" charset="-122"/>
                <a:cs typeface="Gelasio" pitchFamily="34" charset="-120"/>
              </a:rPr>
              <a:t>ColO-RAN: </a:t>
            </a:r>
            <a:r>
              <a:rPr lang="en-US" sz="3000" dirty="0">
                <a:solidFill>
                  <a:srgbClr val="746558"/>
                </a:solidFill>
                <a:latin typeface="Gelasio" pitchFamily="34" charset="0"/>
                <a:ea typeface="Gelasio" pitchFamily="34" charset="-122"/>
                <a:cs typeface="Gelasio" pitchFamily="34" charset="-120"/>
              </a:rPr>
              <a:t>Developing Machine Learning-based xApps for Open RAN Closed-loop Control on Programmable Experimental Platforms, </a:t>
            </a:r>
            <a:r>
              <a:rPr lang="en-US" sz="3000" b="1" i="1" dirty="0">
                <a:solidFill>
                  <a:srgbClr val="746558"/>
                </a:solidFill>
                <a:latin typeface="Gelasio" pitchFamily="34" charset="0"/>
                <a:ea typeface="Gelasio" pitchFamily="34" charset="-122"/>
                <a:cs typeface="Gelasio" pitchFamily="34" charset="-120"/>
              </a:rPr>
              <a:t>IEEE Transactions on Mobile Computing, 2023</a:t>
            </a:r>
            <a:endParaRPr lang="en-US" sz="3000" dirty="0"/>
          </a:p>
        </p:txBody>
      </p:sp>
      <p:sp>
        <p:nvSpPr>
          <p:cNvPr id="4" name="Text 2"/>
          <p:cNvSpPr/>
          <p:nvPr/>
        </p:nvSpPr>
        <p:spPr>
          <a:xfrm>
            <a:off x="793790" y="3474125"/>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Focuses on the practical implementation and evaluation of a Machine Learning-based scheduler as an xApp on a real-world O-RAN testbed. The work details the process of integrating the ML model with the Near-Real-Time RIC to enable closed-loop control and optimization of RAN parameters.</a:t>
            </a:r>
            <a:endParaRPr lang="en-US" sz="1750" dirty="0"/>
          </a:p>
        </p:txBody>
      </p:sp>
      <p:sp>
        <p:nvSpPr>
          <p:cNvPr id="5" name="Text 3"/>
          <p:cNvSpPr/>
          <p:nvPr/>
        </p:nvSpPr>
        <p:spPr>
          <a:xfrm>
            <a:off x="793790" y="4642128"/>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Successfully demonstrates the feasibility of deploying an ML-powered xApp for RAN control. The experimental platform validates that the xApp can adapt to changing network conditions and improve performance metrics like spectral efficiency.</a:t>
            </a:r>
            <a:endParaRPr lang="en-US" sz="1750" dirty="0"/>
          </a:p>
        </p:txBody>
      </p:sp>
      <p:sp>
        <p:nvSpPr>
          <p:cNvPr id="6" name="Text 4"/>
          <p:cNvSpPr/>
          <p:nvPr/>
        </p:nvSpPr>
        <p:spPr>
          <a:xfrm>
            <a:off x="793790" y="5810131"/>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The performance is evaluated on a specific experimental platform, and results may not directly translate to large-scale, multi-vendor commercial deployments. The study primarily focuses on the framework rather than proposing a novel ML algorithm.</a:t>
            </a:r>
            <a:endParaRPr lang="en-US" sz="1750" dirty="0"/>
          </a:p>
        </p:txBody>
      </p:sp>
      <p:sp>
        <p:nvSpPr>
          <p:cNvPr id="7" name="Rectangle 6">
            <a:extLst>
              <a:ext uri="{FF2B5EF4-FFF2-40B4-BE49-F238E27FC236}">
                <a16:creationId xmlns:a16="http://schemas.microsoft.com/office/drawing/2014/main" xmlns="" id="{A29E7340-00C2-A0D0-A6E7-EAE5BA9F22B3}"/>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3683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89" y="2173843"/>
            <a:ext cx="13042821" cy="725805"/>
          </a:xfrm>
          <a:prstGeom prst="rect">
            <a:avLst/>
          </a:prstGeom>
          <a:noFill/>
          <a:ln/>
        </p:spPr>
        <p:txBody>
          <a:bodyPr wrap="square" lIns="0" tIns="0" rIns="0" bIns="0" rtlCol="0" anchor="t"/>
          <a:lstStyle/>
          <a:p>
            <a:pPr marL="0" indent="0" algn="l">
              <a:lnSpc>
                <a:spcPts val="2850"/>
              </a:lnSpc>
              <a:buNone/>
            </a:pPr>
            <a:r>
              <a:rPr lang="en-US" sz="3000" b="1" dirty="0">
                <a:solidFill>
                  <a:srgbClr val="746558"/>
                </a:solidFill>
                <a:latin typeface="Gelasio" pitchFamily="34" charset="0"/>
                <a:ea typeface="Gelasio" pitchFamily="34" charset="-122"/>
                <a:cs typeface="Gelasio" pitchFamily="34" charset="-120"/>
              </a:rPr>
              <a:t>6</a:t>
            </a:r>
            <a:r>
              <a:rPr lang="en-US" sz="3000" dirty="0">
                <a:solidFill>
                  <a:srgbClr val="746558"/>
                </a:solidFill>
                <a:latin typeface="Gelasio" pitchFamily="34" charset="0"/>
                <a:ea typeface="Gelasio" pitchFamily="34" charset="-122"/>
                <a:cs typeface="Gelasio" pitchFamily="34" charset="-120"/>
              </a:rPr>
              <a:t>. Open RAN LSTM Traffic Prediction and Slice Management using Deep Reinforcement Learning, </a:t>
            </a:r>
            <a:r>
              <a:rPr lang="en-US" sz="3000" b="1" i="1" dirty="0" err="1">
                <a:solidFill>
                  <a:srgbClr val="746558"/>
                </a:solidFill>
                <a:latin typeface="Gelasio" pitchFamily="34" charset="0"/>
                <a:ea typeface="Gelasio" pitchFamily="34" charset="-122"/>
                <a:cs typeface="Gelasio" pitchFamily="34" charset="-120"/>
              </a:rPr>
              <a:t>arXiv</a:t>
            </a:r>
            <a:r>
              <a:rPr lang="en-US" sz="3000" b="1" i="1" dirty="0">
                <a:solidFill>
                  <a:srgbClr val="746558"/>
                </a:solidFill>
                <a:latin typeface="Gelasio" pitchFamily="34" charset="0"/>
                <a:ea typeface="Gelasio" pitchFamily="34" charset="-122"/>
                <a:cs typeface="Gelasio" pitchFamily="34" charset="-120"/>
              </a:rPr>
              <a:t>, 2024</a:t>
            </a:r>
            <a:endParaRPr lang="en-US" sz="3000" dirty="0"/>
          </a:p>
        </p:txBody>
      </p:sp>
      <p:sp>
        <p:nvSpPr>
          <p:cNvPr id="4" name="Text 2"/>
          <p:cNvSpPr/>
          <p:nvPr/>
        </p:nvSpPr>
        <p:spPr>
          <a:xfrm>
            <a:off x="793790" y="3383399"/>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Proposes an O-RAN slicing framework combining an LSTM-based predictive rApp in the non-real-time RIC with a deep reinforcement learning (DRL) xApp in the near-real-time RIC. The LSTM forecasts network traffic, and the DRL agent dynamically manages slice resources to minimize QoS violations.</a:t>
            </a:r>
            <a:endParaRPr lang="en-US" sz="1750" dirty="0"/>
          </a:p>
        </p:txBody>
      </p:sp>
      <p:sp>
        <p:nvSpPr>
          <p:cNvPr id="5" name="Text 3"/>
          <p:cNvSpPr/>
          <p:nvPr/>
        </p:nvSpPr>
        <p:spPr>
          <a:xfrm>
            <a:off x="793790" y="455140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Accurate LSTM predictions improve DRL-based slice management, reducing QoS violations and achieving up to 7.7% higher final reward in simulations compared to DRL without traffic prediction.</a:t>
            </a:r>
            <a:endParaRPr lang="en-US" sz="1750" dirty="0"/>
          </a:p>
        </p:txBody>
      </p:sp>
      <p:sp>
        <p:nvSpPr>
          <p:cNvPr id="6" name="Text 4"/>
          <p:cNvSpPr/>
          <p:nvPr/>
        </p:nvSpPr>
        <p:spPr>
          <a:xfrm>
            <a:off x="793790" y="5356503"/>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Evaluated only in simulations using synthetic traffic data, focuses primarily on QoS violations (not throughput), and does not address real-world communication overhead or scalability in large-scale O-RAN deployments.</a:t>
            </a:r>
            <a:endParaRPr lang="en-US" sz="1750" dirty="0"/>
          </a:p>
        </p:txBody>
      </p:sp>
      <p:sp>
        <p:nvSpPr>
          <p:cNvPr id="7" name="Text 5"/>
          <p:cNvSpPr/>
          <p:nvPr/>
        </p:nvSpPr>
        <p:spPr>
          <a:xfrm>
            <a:off x="793790" y="6422469"/>
            <a:ext cx="4536519" cy="566976"/>
          </a:xfrm>
          <a:prstGeom prst="rect">
            <a:avLst/>
          </a:prstGeom>
          <a:noFill/>
          <a:ln/>
        </p:spPr>
        <p:txBody>
          <a:bodyPr wrap="none" lIns="0" tIns="0" rIns="0" bIns="0" rtlCol="0" anchor="t"/>
          <a:lstStyle/>
          <a:p>
            <a:pPr marL="0" indent="0" algn="l">
              <a:lnSpc>
                <a:spcPts val="4450"/>
              </a:lnSpc>
              <a:buNone/>
            </a:pPr>
            <a:endParaRPr lang="en-US" sz="3550" dirty="0"/>
          </a:p>
        </p:txBody>
      </p:sp>
      <p:sp>
        <p:nvSpPr>
          <p:cNvPr id="8" name="Rectangle 7">
            <a:extLst>
              <a:ext uri="{FF2B5EF4-FFF2-40B4-BE49-F238E27FC236}">
                <a16:creationId xmlns:a16="http://schemas.microsoft.com/office/drawing/2014/main" xmlns="" id="{6DC4EDE6-A8AB-2C3E-60F4-E06CA9A46A71}"/>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2573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90" y="2220990"/>
            <a:ext cx="12871410" cy="362903"/>
          </a:xfrm>
          <a:prstGeom prst="rect">
            <a:avLst/>
          </a:prstGeom>
          <a:noFill/>
          <a:ln/>
        </p:spPr>
        <p:txBody>
          <a:bodyPr wrap="none" lIns="0" tIns="0" rIns="0" bIns="0" rtlCol="0" anchor="t"/>
          <a:lstStyle/>
          <a:p>
            <a:pPr marL="0" indent="0" algn="l">
              <a:lnSpc>
                <a:spcPts val="2850"/>
              </a:lnSpc>
              <a:buNone/>
            </a:pPr>
            <a:r>
              <a:rPr lang="en-US" sz="3000" b="1" dirty="0">
                <a:solidFill>
                  <a:srgbClr val="746558"/>
                </a:solidFill>
                <a:latin typeface="Gelasio" pitchFamily="34" charset="0"/>
                <a:ea typeface="Gelasio" pitchFamily="34" charset="-122"/>
                <a:cs typeface="Gelasio" pitchFamily="34" charset="-120"/>
              </a:rPr>
              <a:t>7. </a:t>
            </a:r>
            <a:r>
              <a:rPr lang="en-US" sz="3000" dirty="0">
                <a:solidFill>
                  <a:srgbClr val="746558"/>
                </a:solidFill>
                <a:latin typeface="Gelasio" pitchFamily="34" charset="0"/>
                <a:ea typeface="Gelasio" pitchFamily="34" charset="-122"/>
                <a:cs typeface="Gelasio" pitchFamily="34" charset="-120"/>
              </a:rPr>
              <a:t>An Optimal Scheduling Technique for Smart Grid Communications over </a:t>
            </a:r>
          </a:p>
          <a:p>
            <a:pPr marL="0" indent="0" algn="l">
              <a:lnSpc>
                <a:spcPts val="2850"/>
              </a:lnSpc>
              <a:buNone/>
            </a:pPr>
            <a:r>
              <a:rPr lang="en-US" sz="3000" dirty="0">
                <a:solidFill>
                  <a:srgbClr val="746558"/>
                </a:solidFill>
                <a:latin typeface="Gelasio" pitchFamily="34" charset="0"/>
                <a:ea typeface="Gelasio" pitchFamily="34" charset="-122"/>
                <a:cs typeface="Gelasio" pitchFamily="34" charset="-120"/>
              </a:rPr>
              <a:t>5G Networks</a:t>
            </a:r>
            <a:r>
              <a:rPr lang="en-US" sz="3000" b="1" dirty="0">
                <a:solidFill>
                  <a:srgbClr val="746558"/>
                </a:solidFill>
                <a:latin typeface="Gelasio" pitchFamily="34" charset="0"/>
                <a:ea typeface="Gelasio" pitchFamily="34" charset="-122"/>
                <a:cs typeface="Gelasio" pitchFamily="34" charset="-120"/>
              </a:rPr>
              <a:t>, </a:t>
            </a:r>
            <a:r>
              <a:rPr lang="en-US" sz="3000" b="1" i="1" dirty="0">
                <a:solidFill>
                  <a:srgbClr val="746558"/>
                </a:solidFill>
                <a:latin typeface="Gelasio" pitchFamily="34" charset="0"/>
                <a:ea typeface="Gelasio" pitchFamily="34" charset="-122"/>
                <a:cs typeface="Gelasio" pitchFamily="34" charset="-120"/>
              </a:rPr>
              <a:t>Applied Sciences</a:t>
            </a:r>
            <a:r>
              <a:rPr lang="en-US" sz="3000" b="1" dirty="0">
                <a:solidFill>
                  <a:srgbClr val="746558"/>
                </a:solidFill>
                <a:latin typeface="Gelasio" pitchFamily="34" charset="0"/>
                <a:ea typeface="Gelasio" pitchFamily="34" charset="-122"/>
                <a:cs typeface="Gelasio" pitchFamily="34" charset="-120"/>
              </a:rPr>
              <a:t>, 2023</a:t>
            </a:r>
            <a:endParaRPr lang="en-US" sz="3000" b="1" dirty="0"/>
          </a:p>
        </p:txBody>
      </p:sp>
      <p:sp>
        <p:nvSpPr>
          <p:cNvPr id="4" name="Text 2"/>
          <p:cNvSpPr/>
          <p:nvPr/>
        </p:nvSpPr>
        <p:spPr>
          <a:xfrm>
            <a:off x="793790" y="3388797"/>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Proposes Optimal Usage and Dropping (OUD), a scheduling algorithm for 5G-enabled smart grid communications. It prioritizes packets based on their throughput ratio (reward/size) and uses a "schedule and drop" strategy—discarding the lowest-value packet when a higher-value one arrives that could otherwise miss its deadline.</a:t>
            </a:r>
            <a:endParaRPr lang="en-US" sz="1750" dirty="0"/>
          </a:p>
        </p:txBody>
      </p:sp>
      <p:sp>
        <p:nvSpPr>
          <p:cNvPr id="5" name="Text 3"/>
          <p:cNvSpPr/>
          <p:nvPr/>
        </p:nvSpPr>
        <p:spPr>
          <a:xfrm>
            <a:off x="793790" y="4640500"/>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In simulations, OUD outperforms deadline-aware schedulers like Improved Earliest Deadline First (I-EDF), achieving higher total reward, greater throughput, and fewer missed deadlines under increasing network load and user density.</a:t>
            </a:r>
            <a:endParaRPr lang="en-US" sz="1750" dirty="0"/>
          </a:p>
        </p:txBody>
      </p:sp>
      <p:sp>
        <p:nvSpPr>
          <p:cNvPr id="6" name="Text 4"/>
          <p:cNvSpPr/>
          <p:nvPr/>
        </p:nvSpPr>
        <p:spPr>
          <a:xfrm>
            <a:off x="793790" y="5729208"/>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The OUD algorithm is a rule-based heuristic, lacking adaptivity or learning capability. It also assumes static beamforming, not reflecting the dynamic beam management present in real 5G systems, limiting real-world applicability.</a:t>
            </a:r>
            <a:endParaRPr lang="en-US" sz="1750" dirty="0"/>
          </a:p>
        </p:txBody>
      </p:sp>
      <p:sp>
        <p:nvSpPr>
          <p:cNvPr id="7" name="Text 5"/>
          <p:cNvSpPr/>
          <p:nvPr/>
        </p:nvSpPr>
        <p:spPr>
          <a:xfrm>
            <a:off x="793790" y="6422469"/>
            <a:ext cx="4536519" cy="566976"/>
          </a:xfrm>
          <a:prstGeom prst="rect">
            <a:avLst/>
          </a:prstGeom>
          <a:noFill/>
          <a:ln/>
        </p:spPr>
        <p:txBody>
          <a:bodyPr wrap="none" lIns="0" tIns="0" rIns="0" bIns="0" rtlCol="0" anchor="t"/>
          <a:lstStyle/>
          <a:p>
            <a:pPr marL="0" indent="0" algn="l">
              <a:lnSpc>
                <a:spcPts val="4450"/>
              </a:lnSpc>
              <a:buNone/>
            </a:pPr>
            <a:endParaRPr lang="en-US" sz="3550" dirty="0"/>
          </a:p>
        </p:txBody>
      </p:sp>
      <p:sp>
        <p:nvSpPr>
          <p:cNvPr id="8" name="Rectangle 7">
            <a:extLst>
              <a:ext uri="{FF2B5EF4-FFF2-40B4-BE49-F238E27FC236}">
                <a16:creationId xmlns:a16="http://schemas.microsoft.com/office/drawing/2014/main" xmlns="" id="{0E3A97E9-850D-D5A1-66E7-2B90A2AE7115}"/>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2443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89" y="2130266"/>
            <a:ext cx="13042821" cy="362903"/>
          </a:xfrm>
          <a:prstGeom prst="rect">
            <a:avLst/>
          </a:prstGeom>
          <a:noFill/>
          <a:ln/>
        </p:spPr>
        <p:txBody>
          <a:bodyPr wrap="none" lIns="0" tIns="0" rIns="0" bIns="0" rtlCol="0" anchor="t"/>
          <a:lstStyle/>
          <a:p>
            <a:pPr>
              <a:lnSpc>
                <a:spcPts val="2850"/>
              </a:lnSpc>
            </a:pPr>
            <a:r>
              <a:rPr lang="en-US" sz="3000" b="1" dirty="0">
                <a:solidFill>
                  <a:srgbClr val="746558"/>
                </a:solidFill>
                <a:latin typeface="Gelasio" charset="0"/>
                <a:cs typeface="Gelasio" charset="0"/>
              </a:rPr>
              <a:t>9. </a:t>
            </a:r>
            <a:r>
              <a:rPr lang="en-US" sz="3000" b="1" dirty="0" err="1">
                <a:solidFill>
                  <a:srgbClr val="746558"/>
                </a:solidFill>
                <a:latin typeface="Gelasio" charset="0"/>
                <a:cs typeface="Gelasio" charset="0"/>
              </a:rPr>
              <a:t>ALLSTaR</a:t>
            </a:r>
            <a:r>
              <a:rPr lang="en-US" sz="3000" dirty="0">
                <a:solidFill>
                  <a:srgbClr val="746558"/>
                </a:solidFill>
                <a:latin typeface="Gelasio" charset="0"/>
                <a:cs typeface="Gelasio" charset="0"/>
              </a:rPr>
              <a:t> — Automated LLM-Driven Scheduler Generation and Testing for </a:t>
            </a:r>
          </a:p>
          <a:p>
            <a:pPr>
              <a:lnSpc>
                <a:spcPts val="2850"/>
              </a:lnSpc>
            </a:pPr>
            <a:r>
              <a:rPr lang="en-US" sz="3000" dirty="0">
                <a:solidFill>
                  <a:srgbClr val="746558"/>
                </a:solidFill>
                <a:latin typeface="Gelasio" charset="0"/>
                <a:cs typeface="Gelasio" charset="0"/>
              </a:rPr>
              <a:t>Intent-Based RAN</a:t>
            </a:r>
            <a:r>
              <a:rPr lang="en-US" sz="3000" b="1" dirty="0">
                <a:solidFill>
                  <a:srgbClr val="746558"/>
                </a:solidFill>
                <a:latin typeface="Gelasio" charset="0"/>
                <a:cs typeface="Gelasio" charset="0"/>
              </a:rPr>
              <a:t>, </a:t>
            </a:r>
            <a:r>
              <a:rPr lang="en-US" sz="3000" b="1" i="1" dirty="0" err="1">
                <a:solidFill>
                  <a:srgbClr val="746558"/>
                </a:solidFill>
                <a:latin typeface="Gelasio" charset="0"/>
                <a:cs typeface="Gelasio" charset="0"/>
              </a:rPr>
              <a:t>arXiv</a:t>
            </a:r>
            <a:r>
              <a:rPr lang="en-US" sz="3000" b="1" i="1" dirty="0">
                <a:solidFill>
                  <a:srgbClr val="746558"/>
                </a:solidFill>
                <a:latin typeface="Gelasio" charset="0"/>
                <a:cs typeface="Gelasio" charset="0"/>
              </a:rPr>
              <a:t>, 2024</a:t>
            </a:r>
          </a:p>
          <a:p>
            <a:pPr marL="0" indent="0" algn="l">
              <a:lnSpc>
                <a:spcPts val="2850"/>
              </a:lnSpc>
              <a:buNone/>
            </a:pPr>
            <a:endParaRPr lang="en-US" sz="2000" dirty="0"/>
          </a:p>
        </p:txBody>
      </p:sp>
      <p:sp>
        <p:nvSpPr>
          <p:cNvPr id="4" name="Text 2"/>
          <p:cNvSpPr/>
          <p:nvPr/>
        </p:nvSpPr>
        <p:spPr>
          <a:xfrm>
            <a:off x="793788" y="3451464"/>
            <a:ext cx="13042821" cy="1451610"/>
          </a:xfrm>
          <a:prstGeom prst="rect">
            <a:avLst/>
          </a:prstGeom>
          <a:noFill/>
          <a:ln/>
        </p:spPr>
        <p:txBody>
          <a:bodyPr wrap="square" lIns="0" tIns="0" rIns="0" bIns="0" rtlCol="0" anchor="t"/>
          <a:lstStyle/>
          <a:p>
            <a:pPr marL="285750" indent="-285750" algn="just">
              <a:buFont typeface="Arial" pitchFamily="34" charset="0"/>
              <a:buChar char="•"/>
            </a:pPr>
            <a:r>
              <a:rPr lang="en-US" sz="1750" b="1" dirty="0">
                <a:solidFill>
                  <a:srgbClr val="746558"/>
                </a:solidFill>
                <a:latin typeface="Gelasio" charset="0"/>
                <a:cs typeface="Gelasio" charset="0"/>
              </a:rPr>
              <a:t>Methodology:</a:t>
            </a:r>
            <a:r>
              <a:rPr lang="en-US" sz="1750" dirty="0">
                <a:solidFill>
                  <a:srgbClr val="746558"/>
                </a:solidFill>
                <a:latin typeface="Gelasio" charset="0"/>
                <a:cs typeface="Gelasio" charset="0"/>
              </a:rPr>
              <a:t> Explores a cutting-edge approach using a Large Language Model (LLM) to automatically generate and test RAN scheduling code. The system translates high-level "intents" (e.g., "prioritize video streaming quality") into functional scheduler logic, representing a novel paradigm in network automation.</a:t>
            </a:r>
          </a:p>
        </p:txBody>
      </p:sp>
      <p:sp>
        <p:nvSpPr>
          <p:cNvPr id="5" name="Text 3"/>
          <p:cNvSpPr/>
          <p:nvPr/>
        </p:nvSpPr>
        <p:spPr>
          <a:xfrm>
            <a:off x="793790" y="4642128"/>
            <a:ext cx="13042821" cy="1088708"/>
          </a:xfrm>
          <a:prstGeom prst="rect">
            <a:avLst/>
          </a:prstGeom>
          <a:noFill/>
          <a:ln/>
        </p:spPr>
        <p:txBody>
          <a:bodyPr wrap="square" lIns="0" tIns="0" rIns="0" bIns="0" rtlCol="0" anchor="t"/>
          <a:lstStyle/>
          <a:p>
            <a:pPr marL="285750" indent="-285750" algn="just">
              <a:buFont typeface="Arial" pitchFamily="34" charset="0"/>
              <a:buChar char="•"/>
            </a:pPr>
            <a:r>
              <a:rPr lang="en-US" sz="1750" b="1" dirty="0">
                <a:solidFill>
                  <a:srgbClr val="746558"/>
                </a:solidFill>
                <a:latin typeface="Gelasio" charset="0"/>
                <a:cs typeface="Gelasio" charset="0"/>
              </a:rPr>
              <a:t>Key Results:</a:t>
            </a:r>
            <a:r>
              <a:rPr lang="en-US" sz="1750" dirty="0">
                <a:solidFill>
                  <a:srgbClr val="746558"/>
                </a:solidFill>
                <a:latin typeface="Gelasio" charset="0"/>
                <a:cs typeface="Gelasio" charset="0"/>
              </a:rPr>
              <a:t> Demonstrates the potential for LLMs to accelerate the development and customization of RAN schedulers. It shows that generated code can be functional and can adapt to different intents specified in natural language.</a:t>
            </a:r>
          </a:p>
        </p:txBody>
      </p:sp>
      <p:sp>
        <p:nvSpPr>
          <p:cNvPr id="6" name="Text 4"/>
          <p:cNvSpPr/>
          <p:nvPr/>
        </p:nvSpPr>
        <p:spPr>
          <a:xfrm>
            <a:off x="793790" y="5491154"/>
            <a:ext cx="13042821" cy="1088708"/>
          </a:xfrm>
          <a:prstGeom prst="rect">
            <a:avLst/>
          </a:prstGeom>
          <a:noFill/>
          <a:ln/>
        </p:spPr>
        <p:txBody>
          <a:bodyPr wrap="square" lIns="0" tIns="0" rIns="0" bIns="0" rtlCol="0" anchor="t"/>
          <a:lstStyle/>
          <a:p>
            <a:pPr marL="285750" indent="-285750" algn="just">
              <a:buFont typeface="Arial" pitchFamily="34" charset="0"/>
              <a:buChar char="•"/>
            </a:pPr>
            <a:r>
              <a:rPr lang="en-US" sz="1750" b="1" dirty="0">
                <a:solidFill>
                  <a:srgbClr val="746558"/>
                </a:solidFill>
                <a:latin typeface="Gelasio" charset="0"/>
                <a:cs typeface="Gelasio" charset="0"/>
              </a:rPr>
              <a:t>Limitations:</a:t>
            </a:r>
            <a:r>
              <a:rPr lang="en-US" sz="1750" dirty="0">
                <a:solidFill>
                  <a:srgbClr val="746558"/>
                </a:solidFill>
                <a:latin typeface="Gelasio" charset="0"/>
                <a:cs typeface="Gelasio" charset="0"/>
              </a:rPr>
              <a:t> This approach is in its early stages and currently has lower performance and reliability compared to human-engineered or DRL-based schedulers. The LLM's ability to generate truly optimal and bug-free scheduling logic for complex scenarios is not yet proven.</a:t>
            </a:r>
          </a:p>
        </p:txBody>
      </p:sp>
      <p:sp>
        <p:nvSpPr>
          <p:cNvPr id="7" name="Rectangle 6">
            <a:extLst>
              <a:ext uri="{FF2B5EF4-FFF2-40B4-BE49-F238E27FC236}">
                <a16:creationId xmlns:a16="http://schemas.microsoft.com/office/drawing/2014/main" xmlns="" id="{73B29907-AE58-BEF0-FC22-719B026D88E4}"/>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04262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94238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Literature Survey</a:t>
            </a:r>
            <a:endParaRPr lang="en-US" sz="4450" dirty="0">
              <a:solidFill>
                <a:srgbClr val="746558"/>
              </a:solidFill>
            </a:endParaRPr>
          </a:p>
        </p:txBody>
      </p:sp>
      <p:sp>
        <p:nvSpPr>
          <p:cNvPr id="3" name="Text 1"/>
          <p:cNvSpPr/>
          <p:nvPr/>
        </p:nvSpPr>
        <p:spPr>
          <a:xfrm>
            <a:off x="793790" y="1991320"/>
            <a:ext cx="13042821" cy="1275874"/>
          </a:xfrm>
          <a:prstGeom prst="rect">
            <a:avLst/>
          </a:prstGeom>
          <a:noFill/>
          <a:ln/>
        </p:spPr>
        <p:txBody>
          <a:bodyPr wrap="square" lIns="0" tIns="0" rIns="0" bIns="0" rtlCol="0" anchor="t"/>
          <a:lstStyle/>
          <a:p>
            <a:pPr marL="0" indent="0" algn="l">
              <a:lnSpc>
                <a:spcPts val="3300"/>
              </a:lnSpc>
              <a:buNone/>
            </a:pPr>
            <a:r>
              <a:rPr lang="en-US" sz="3000" b="1" i="1" dirty="0">
                <a:solidFill>
                  <a:srgbClr val="746558"/>
                </a:solidFill>
                <a:latin typeface="Gelasio" charset="0"/>
                <a:ea typeface="Gadugi" pitchFamily="34" charset="0"/>
                <a:cs typeface="Gelasio" charset="0"/>
              </a:rPr>
              <a:t>10. 5G-TPS:</a:t>
            </a:r>
            <a:r>
              <a:rPr lang="en-US" sz="3000" i="1" dirty="0">
                <a:solidFill>
                  <a:srgbClr val="746558"/>
                </a:solidFill>
                <a:latin typeface="Gelasio" charset="0"/>
                <a:ea typeface="Gadugi" pitchFamily="34" charset="0"/>
                <a:cs typeface="Gelasio" charset="0"/>
              </a:rPr>
              <a:t> A Two-Phase Real-Time Scheduling and Adaptation Framework for 5G Radio Access Networks, </a:t>
            </a:r>
            <a:r>
              <a:rPr lang="en-US" sz="3000" b="1" i="1" dirty="0">
                <a:solidFill>
                  <a:srgbClr val="746558"/>
                </a:solidFill>
                <a:latin typeface="Gelasio" charset="0"/>
                <a:ea typeface="Gadugi" pitchFamily="34" charset="0"/>
                <a:cs typeface="Gelasio" charset="0"/>
              </a:rPr>
              <a:t>IEEE Transactions on Mobile Computing, 2025</a:t>
            </a:r>
          </a:p>
        </p:txBody>
      </p:sp>
      <p:sp>
        <p:nvSpPr>
          <p:cNvPr id="4" name="Text 2"/>
          <p:cNvSpPr/>
          <p:nvPr/>
        </p:nvSpPr>
        <p:spPr>
          <a:xfrm>
            <a:off x="793790" y="3607356"/>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Methodology:</a:t>
            </a:r>
            <a:r>
              <a:rPr lang="en-US" sz="1750" dirty="0">
                <a:solidFill>
                  <a:srgbClr val="746558"/>
                </a:solidFill>
                <a:latin typeface="Gelasio" pitchFamily="34" charset="0"/>
                <a:ea typeface="Gelasio" pitchFamily="34" charset="-122"/>
                <a:cs typeface="Gelasio" pitchFamily="34" charset="-120"/>
              </a:rPr>
              <a:t> Introduces 5G-TPS, a two-phase scheduling framework that first computes static, channel-efficient schedules and then uses remaining resources to schedule unsatisfied flows. It includes an online adaptation mechanism to adjust schedules dynamically under varying channel conditions.</a:t>
            </a:r>
            <a:endParaRPr lang="en-US" sz="1750" dirty="0"/>
          </a:p>
        </p:txBody>
      </p:sp>
      <p:sp>
        <p:nvSpPr>
          <p:cNvPr id="5" name="Text 3"/>
          <p:cNvSpPr/>
          <p:nvPr/>
        </p:nvSpPr>
        <p:spPr>
          <a:xfrm>
            <a:off x="793790" y="4775359"/>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Key Results:</a:t>
            </a:r>
            <a:r>
              <a:rPr lang="en-US" sz="1750" dirty="0">
                <a:solidFill>
                  <a:srgbClr val="746558"/>
                </a:solidFill>
                <a:latin typeface="Gelasio" pitchFamily="34" charset="0"/>
                <a:ea typeface="Gelasio" pitchFamily="34" charset="-122"/>
                <a:cs typeface="Gelasio" pitchFamily="34" charset="-120"/>
              </a:rPr>
              <a:t> 5G-TPS achieves schedulability close to the optimal SMT-based approach while outperforming existing schedulers like PF and RR in meeting flow deadlines, especially under fluctuating channel conditions.</a:t>
            </a:r>
            <a:endParaRPr lang="en-US" sz="1750" dirty="0"/>
          </a:p>
        </p:txBody>
      </p:sp>
      <p:sp>
        <p:nvSpPr>
          <p:cNvPr id="6" name="Text 4"/>
          <p:cNvSpPr/>
          <p:nvPr/>
        </p:nvSpPr>
        <p:spPr>
          <a:xfrm>
            <a:off x="793790" y="5580459"/>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746558"/>
                </a:solidFill>
                <a:latin typeface="Gelasio" pitchFamily="34" charset="0"/>
                <a:ea typeface="Gelasio" pitchFamily="34" charset="-122"/>
                <a:cs typeface="Gelasio" pitchFamily="34" charset="-120"/>
              </a:rPr>
              <a:t>Limitations:</a:t>
            </a:r>
            <a:r>
              <a:rPr lang="en-US" sz="1750" dirty="0">
                <a:solidFill>
                  <a:srgbClr val="746558"/>
                </a:solidFill>
                <a:latin typeface="Gelasio" pitchFamily="34" charset="0"/>
                <a:ea typeface="Gelasio" pitchFamily="34" charset="-122"/>
                <a:cs typeface="Gelasio" pitchFamily="34" charset="-120"/>
              </a:rPr>
              <a:t> The evaluation is conducted entirely through simulation, as the authors state that their physical testbed (OAI-based) lacked the necessary scale and software features (subband CQI reporting) for a hardware-based evaluation. The framework's heuristic approach means it may fail to find a valid schedule for a flow set that is theoretically schedulable.</a:t>
            </a:r>
            <a:endParaRPr lang="en-US" sz="1750" dirty="0"/>
          </a:p>
        </p:txBody>
      </p:sp>
      <p:sp>
        <p:nvSpPr>
          <p:cNvPr id="7" name="Text 5"/>
          <p:cNvSpPr/>
          <p:nvPr/>
        </p:nvSpPr>
        <p:spPr>
          <a:xfrm>
            <a:off x="793790" y="6924318"/>
            <a:ext cx="13042821" cy="362903"/>
          </a:xfrm>
          <a:prstGeom prst="rect">
            <a:avLst/>
          </a:prstGeom>
          <a:noFill/>
          <a:ln/>
        </p:spPr>
        <p:txBody>
          <a:bodyPr wrap="none" lIns="0" tIns="0" rIns="0" bIns="0" rtlCol="0" anchor="t"/>
          <a:lstStyle/>
          <a:p>
            <a:pPr marL="0" indent="0" algn="r">
              <a:lnSpc>
                <a:spcPts val="2850"/>
              </a:lnSpc>
              <a:buNone/>
            </a:pPr>
            <a:endParaRPr lang="en-US" sz="1750" dirty="0"/>
          </a:p>
        </p:txBody>
      </p:sp>
      <p:sp>
        <p:nvSpPr>
          <p:cNvPr id="8" name="Rectangle 7">
            <a:extLst>
              <a:ext uri="{FF2B5EF4-FFF2-40B4-BE49-F238E27FC236}">
                <a16:creationId xmlns:a16="http://schemas.microsoft.com/office/drawing/2014/main" xmlns="" id="{B9E18E2F-097A-F1E7-D349-2A67C767BC0E}"/>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9337" y="29299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Research Gaps</a:t>
            </a:r>
            <a:endParaRPr lang="en-US" sz="4450" dirty="0">
              <a:solidFill>
                <a:srgbClr val="746558"/>
              </a:solidFill>
            </a:endParaRPr>
          </a:p>
        </p:txBody>
      </p:sp>
      <p:sp>
        <p:nvSpPr>
          <p:cNvPr id="12" name="Shape 10"/>
          <p:cNvSpPr/>
          <p:nvPr/>
        </p:nvSpPr>
        <p:spPr>
          <a:xfrm>
            <a:off x="801410" y="4476750"/>
            <a:ext cx="13026271" cy="2101929"/>
          </a:xfrm>
          <a:prstGeom prst="rect">
            <a:avLst/>
          </a:prstGeom>
          <a:solidFill>
            <a:srgbClr val="FFFFFF">
              <a:alpha val="4000"/>
            </a:srgbClr>
          </a:solidFill>
          <a:ln/>
        </p:spPr>
      </p:sp>
      <p:sp>
        <p:nvSpPr>
          <p:cNvPr id="16" name="Rectangle 15">
            <a:extLst>
              <a:ext uri="{FF2B5EF4-FFF2-40B4-BE49-F238E27FC236}">
                <a16:creationId xmlns:a16="http://schemas.microsoft.com/office/drawing/2014/main" xmlns="" id="{583961F8-BAF4-609D-2400-E842B0B4AC10}"/>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xmlns="" id="{AB7C9D7A-CF3C-9158-DDB8-70C4264417D3}"/>
              </a:ext>
            </a:extLst>
          </p:cNvPr>
          <p:cNvSpPr txBox="1"/>
          <p:nvPr/>
        </p:nvSpPr>
        <p:spPr>
          <a:xfrm>
            <a:off x="519336" y="1255729"/>
            <a:ext cx="14015813" cy="7121180"/>
          </a:xfrm>
          <a:prstGeom prst="rect">
            <a:avLst/>
          </a:prstGeom>
          <a:noFill/>
        </p:spPr>
        <p:txBody>
          <a:bodyPr wrap="square">
            <a:spAutoFit/>
          </a:bodyPr>
          <a:lstStyle/>
          <a:p>
            <a:pPr marL="342900" indent="-342900">
              <a:buFont typeface="Arial" pitchFamily="34" charset="0"/>
              <a:buChar char="•"/>
            </a:pPr>
            <a:r>
              <a:rPr lang="en-US" sz="2100" dirty="0">
                <a:solidFill>
                  <a:srgbClr val="746558"/>
                </a:solidFill>
                <a:latin typeface="Gelasio" charset="0"/>
                <a:cs typeface="Gelasio" charset="0"/>
              </a:rPr>
              <a:t>Current 5G networks are becoming increasingly complex, yet most schedulers used today still rely on fixed-rule logic. This creates a research gap because these traditional approaches cannot handle the real-time variability, dense deployments, and strict latency demands of modern networks. </a:t>
            </a:r>
            <a:endParaRPr lang="en-US" sz="2100" dirty="0" smtClean="0">
              <a:solidFill>
                <a:srgbClr val="746558"/>
              </a:solidFill>
              <a:latin typeface="Gelasio" charset="0"/>
              <a:cs typeface="Gelasio" charset="0"/>
            </a:endParaRPr>
          </a:p>
          <a:p>
            <a:endParaRPr lang="en-US" sz="2100" dirty="0">
              <a:solidFill>
                <a:srgbClr val="746558"/>
              </a:solidFill>
              <a:latin typeface="Gelasio" charset="0"/>
              <a:cs typeface="Gelasio" charset="0"/>
            </a:endParaRPr>
          </a:p>
          <a:p>
            <a:pPr marL="342900" indent="-342900">
              <a:buFont typeface="Arial" pitchFamily="34" charset="0"/>
              <a:buChar char="•"/>
            </a:pPr>
            <a:r>
              <a:rPr lang="en-US" sz="2100" dirty="0">
                <a:solidFill>
                  <a:srgbClr val="746558"/>
                </a:solidFill>
                <a:latin typeface="Gelasio" charset="0"/>
                <a:cs typeface="Gelasio" charset="0"/>
              </a:rPr>
              <a:t>Although AI-powered schedulers show strong potential, most existing research evaluates them only in controlled simulations. There is a clear gap in rigorous testing within realistic emulation or near-production environments. Without this, their robustness, scalability, and practical deployment challenges remain underexplored</a:t>
            </a:r>
            <a:r>
              <a:rPr lang="en-US" sz="2100" dirty="0" smtClean="0">
                <a:solidFill>
                  <a:srgbClr val="746558"/>
                </a:solidFill>
                <a:latin typeface="Gelasio" charset="0"/>
                <a:cs typeface="Gelasio" charset="0"/>
              </a:rPr>
              <a:t>.</a:t>
            </a:r>
          </a:p>
          <a:p>
            <a:endParaRPr lang="en-US" sz="2100" dirty="0">
              <a:solidFill>
                <a:srgbClr val="746558"/>
              </a:solidFill>
              <a:latin typeface="Gelasio" charset="0"/>
              <a:cs typeface="Gelasio" charset="0"/>
            </a:endParaRPr>
          </a:p>
          <a:p>
            <a:pPr marL="342900" indent="-342900">
              <a:buFont typeface="Arial" pitchFamily="34" charset="0"/>
              <a:buChar char="•"/>
            </a:pPr>
            <a:r>
              <a:rPr lang="en-US" sz="2100" dirty="0">
                <a:solidFill>
                  <a:srgbClr val="746558"/>
                </a:solidFill>
                <a:latin typeface="Gelasio" charset="0"/>
                <a:cs typeface="Gelasio" charset="0"/>
              </a:rPr>
              <a:t>Model drift remains an unresolved problem in AI-based scheduling. As network conditions evolve, the model’s performance degrades, yet current research rarely provides lightweight, fast, and continuous drift-management techniques suited for live 5G/O-RAN systems. This gap limits the long-term reliability of intelligent schedulers</a:t>
            </a:r>
            <a:r>
              <a:rPr lang="en-US" sz="2100" dirty="0" smtClean="0">
                <a:solidFill>
                  <a:srgbClr val="746558"/>
                </a:solidFill>
                <a:latin typeface="Gelasio" charset="0"/>
                <a:cs typeface="Gelasio" charset="0"/>
              </a:rPr>
              <a:t>.</a:t>
            </a:r>
          </a:p>
          <a:p>
            <a:endParaRPr lang="en-US" sz="2100" dirty="0">
              <a:solidFill>
                <a:srgbClr val="746558"/>
              </a:solidFill>
              <a:latin typeface="Gelasio" charset="0"/>
              <a:cs typeface="Gelasio" charset="0"/>
            </a:endParaRPr>
          </a:p>
          <a:p>
            <a:pPr marL="342900" indent="-342900">
              <a:buFont typeface="Arial" pitchFamily="34" charset="0"/>
              <a:buChar char="•"/>
            </a:pPr>
            <a:r>
              <a:rPr lang="en-US" sz="2100" dirty="0">
                <a:solidFill>
                  <a:srgbClr val="746558"/>
                </a:solidFill>
                <a:latin typeface="Gelasio" charset="0"/>
                <a:cs typeface="Gelasio" charset="0"/>
              </a:rPr>
              <a:t>Existing drift-handling strategies are computationally expensive, slow to respond, or disruptive to live networks. This exposes a gap in designing drift-mitigation methods that operate seamlessly, with minimal overhead, and without compromising service quality</a:t>
            </a:r>
            <a:r>
              <a:rPr lang="en-US" sz="2100" dirty="0" smtClean="0">
                <a:solidFill>
                  <a:srgbClr val="746558"/>
                </a:solidFill>
                <a:latin typeface="Gelasio" charset="0"/>
                <a:cs typeface="Gelasio" charset="0"/>
              </a:rPr>
              <a:t>.</a:t>
            </a:r>
          </a:p>
          <a:p>
            <a:endParaRPr lang="en-US" sz="2100" dirty="0">
              <a:solidFill>
                <a:srgbClr val="746558"/>
              </a:solidFill>
              <a:latin typeface="Gelasio" charset="0"/>
              <a:cs typeface="Gelasio" charset="0"/>
            </a:endParaRPr>
          </a:p>
          <a:p>
            <a:pPr marL="342900" indent="-342900">
              <a:buFont typeface="Arial" pitchFamily="34" charset="0"/>
              <a:buChar char="•"/>
            </a:pPr>
            <a:r>
              <a:rPr lang="en-US" sz="2100" dirty="0">
                <a:solidFill>
                  <a:srgbClr val="746558"/>
                </a:solidFill>
                <a:latin typeface="Gelasio" charset="0"/>
                <a:cs typeface="Gelasio" charset="0"/>
              </a:rPr>
              <a:t>The development of intelligent schedulers requires expertise across wireless systems, real-time optimization, and AI/ML. Research rarely addresses how to simplify this design pipeline or provide frameworks that lower the barrier to entry. This creates a gap in practical methodologies, tools, and standardized processes for building deployable AI-driven schedulers.</a:t>
            </a:r>
          </a:p>
          <a:p>
            <a:pPr marL="285750" indent="-285750">
              <a:lnSpc>
                <a:spcPct val="200000"/>
              </a:lnSpc>
              <a:buFont typeface="Arial" panose="020B0604020202020204" pitchFamily="34" charset="0"/>
              <a:buChar char="•"/>
            </a:pPr>
            <a:endParaRPr lang="en-IN" sz="2100" dirty="0">
              <a:solidFill>
                <a:srgbClr val="746558"/>
              </a:solidFill>
              <a:latin typeface="Gelasio" charset="0"/>
              <a:cs typeface="Gelasio" charset="0"/>
            </a:endParaRPr>
          </a:p>
        </p:txBody>
      </p:sp>
    </p:spTree>
    <p:extLst>
      <p:ext uri="{BB962C8B-B14F-4D97-AF65-F5344CB8AC3E}">
        <p14:creationId xmlns:p14="http://schemas.microsoft.com/office/powerpoint/2010/main" val="19941224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D069ABE6-F312-7D69-FAE7-62D66BDE902A}"/>
              </a:ext>
            </a:extLst>
          </p:cNvPr>
          <p:cNvSpPr txBox="1"/>
          <p:nvPr/>
        </p:nvSpPr>
        <p:spPr>
          <a:xfrm>
            <a:off x="609600" y="114300"/>
            <a:ext cx="9205169" cy="1267655"/>
          </a:xfrm>
          <a:prstGeom prst="rect">
            <a:avLst/>
          </a:prstGeom>
        </p:spPr>
        <p:txBody>
          <a:bodyPr lIns="0" tIns="0" rIns="0" bIns="0" rtlCol="0" anchor="t">
            <a:spAutoFit/>
          </a:bodyPr>
          <a:lstStyle/>
          <a:p>
            <a:pPr>
              <a:lnSpc>
                <a:spcPts val="11448"/>
              </a:lnSpc>
            </a:pPr>
            <a:r>
              <a:rPr lang="en-US" sz="4450" b="1" dirty="0">
                <a:solidFill>
                  <a:srgbClr val="746558"/>
                </a:solidFill>
                <a:latin typeface="Gelasio Semi Bold" charset="0"/>
                <a:ea typeface="Alexandria Bold"/>
                <a:cs typeface="Gelasio Semi Bold" charset="0"/>
                <a:sym typeface="Alexandria Bold"/>
              </a:rPr>
              <a:t>Problem Statement</a:t>
            </a:r>
          </a:p>
        </p:txBody>
      </p:sp>
      <p:sp>
        <p:nvSpPr>
          <p:cNvPr id="4" name="TextBox 3">
            <a:extLst>
              <a:ext uri="{FF2B5EF4-FFF2-40B4-BE49-F238E27FC236}">
                <a16:creationId xmlns:a16="http://schemas.microsoft.com/office/drawing/2014/main" xmlns="" id="{2D6A3E8D-6254-A31C-EFDC-A3B766414BCB}"/>
              </a:ext>
            </a:extLst>
          </p:cNvPr>
          <p:cNvSpPr txBox="1"/>
          <p:nvPr/>
        </p:nvSpPr>
        <p:spPr>
          <a:xfrm>
            <a:off x="457200" y="1750604"/>
            <a:ext cx="13280065" cy="1015663"/>
          </a:xfrm>
          <a:prstGeom prst="rect">
            <a:avLst/>
          </a:prstGeom>
          <a:noFill/>
        </p:spPr>
        <p:txBody>
          <a:bodyPr wrap="square">
            <a:spAutoFit/>
          </a:bodyPr>
          <a:lstStyle/>
          <a:p>
            <a:pPr marL="146050" algn="just">
              <a:spcBef>
                <a:spcPts val="1200"/>
              </a:spcBef>
              <a:buClr>
                <a:srgbClr val="000000"/>
              </a:buClr>
              <a:buSzPts val="1300"/>
            </a:pPr>
            <a:r>
              <a:rPr lang="en-US" sz="2000" dirty="0">
                <a:solidFill>
                  <a:srgbClr val="746558"/>
                </a:solidFill>
                <a:latin typeface="Gelasio" charset="0"/>
                <a:cs typeface="Gelasio" charset="0"/>
              </a:rPr>
              <a:t>To design and develop a </a:t>
            </a:r>
            <a:r>
              <a:rPr lang="en-US" sz="2000" b="1" dirty="0">
                <a:solidFill>
                  <a:srgbClr val="746558"/>
                </a:solidFill>
                <a:latin typeface="Gelasio" charset="0"/>
                <a:cs typeface="Gelasio" charset="0"/>
              </a:rPr>
              <a:t>novel drift-aware</a:t>
            </a:r>
            <a:r>
              <a:rPr lang="en-US" sz="2000" dirty="0">
                <a:solidFill>
                  <a:srgbClr val="746558"/>
                </a:solidFill>
                <a:latin typeface="Gelasio" charset="0"/>
                <a:cs typeface="Gelasio" charset="0"/>
              </a:rPr>
              <a:t> scheduling algorithm for the </a:t>
            </a:r>
            <a:r>
              <a:rPr lang="en-US" sz="2000" b="1" dirty="0">
                <a:solidFill>
                  <a:srgbClr val="746558"/>
                </a:solidFill>
                <a:latin typeface="Gelasio" charset="0"/>
                <a:cs typeface="Gelasio" charset="0"/>
              </a:rPr>
              <a:t>Radio Access Network (RAN) system </a:t>
            </a:r>
            <a:r>
              <a:rPr lang="en-US" sz="2000" dirty="0">
                <a:solidFill>
                  <a:srgbClr val="746558"/>
                </a:solidFill>
                <a:latin typeface="Gelasio" charset="0"/>
                <a:cs typeface="Gelasio" charset="0"/>
              </a:rPr>
              <a:t>that adaptively optimizes radio resource allocation, aiming to achieve a balance between system throughput, user fairness, and latency when compared </a:t>
            </a:r>
            <a:r>
              <a:rPr lang="en-US" sz="2000" dirty="0" smtClean="0">
                <a:solidFill>
                  <a:srgbClr val="746558"/>
                </a:solidFill>
                <a:latin typeface="Gelasio" charset="0"/>
                <a:cs typeface="Gelasio" charset="0"/>
              </a:rPr>
              <a:t>to latest </a:t>
            </a:r>
            <a:r>
              <a:rPr lang="en-US" sz="2000" dirty="0">
                <a:solidFill>
                  <a:srgbClr val="746558"/>
                </a:solidFill>
                <a:latin typeface="Gelasio" charset="0"/>
                <a:cs typeface="Gelasio" charset="0"/>
              </a:rPr>
              <a:t>scheduling techniques.</a:t>
            </a:r>
            <a:endParaRPr lang="en-US" sz="2000" b="1" dirty="0">
              <a:solidFill>
                <a:srgbClr val="746558"/>
              </a:solidFill>
              <a:latin typeface="Gelasio" charset="0"/>
              <a:ea typeface="Arial"/>
              <a:cs typeface="Gelasio" charset="0"/>
              <a:sym typeface="Arial"/>
            </a:endParaRPr>
          </a:p>
        </p:txBody>
      </p:sp>
      <p:sp>
        <p:nvSpPr>
          <p:cNvPr id="5" name="TextBox 3">
            <a:extLst>
              <a:ext uri="{FF2B5EF4-FFF2-40B4-BE49-F238E27FC236}">
                <a16:creationId xmlns:a16="http://schemas.microsoft.com/office/drawing/2014/main" xmlns="" id="{F97A01E1-01BC-F4EA-7DCA-C631823115C2}"/>
              </a:ext>
            </a:extLst>
          </p:cNvPr>
          <p:cNvSpPr txBox="1"/>
          <p:nvPr/>
        </p:nvSpPr>
        <p:spPr>
          <a:xfrm>
            <a:off x="594360" y="2742819"/>
            <a:ext cx="5257800" cy="1267655"/>
          </a:xfrm>
          <a:prstGeom prst="rect">
            <a:avLst/>
          </a:prstGeom>
        </p:spPr>
        <p:txBody>
          <a:bodyPr wrap="square" lIns="0" tIns="0" rIns="0" bIns="0" rtlCol="0" anchor="t">
            <a:spAutoFit/>
          </a:bodyPr>
          <a:lstStyle/>
          <a:p>
            <a:pPr>
              <a:lnSpc>
                <a:spcPts val="11448"/>
              </a:lnSpc>
            </a:pPr>
            <a:r>
              <a:rPr lang="en-US" sz="4450" b="1" dirty="0">
                <a:solidFill>
                  <a:srgbClr val="746558"/>
                </a:solidFill>
                <a:latin typeface="Gelasio Semi Bold" charset="0"/>
                <a:ea typeface="Alexandria Bold"/>
                <a:cs typeface="Gelasio Semi Bold" charset="0"/>
                <a:sym typeface="Alexandria Bold"/>
              </a:rPr>
              <a:t>Objectives</a:t>
            </a:r>
          </a:p>
        </p:txBody>
      </p:sp>
      <p:sp>
        <p:nvSpPr>
          <p:cNvPr id="6" name="TextBox 5">
            <a:extLst>
              <a:ext uri="{FF2B5EF4-FFF2-40B4-BE49-F238E27FC236}">
                <a16:creationId xmlns:a16="http://schemas.microsoft.com/office/drawing/2014/main" xmlns="" id="{3824385B-DCE5-3479-3980-BD54864E5D72}"/>
              </a:ext>
            </a:extLst>
          </p:cNvPr>
          <p:cNvSpPr txBox="1"/>
          <p:nvPr/>
        </p:nvSpPr>
        <p:spPr>
          <a:xfrm>
            <a:off x="609600" y="4317731"/>
            <a:ext cx="13127665" cy="2554545"/>
          </a:xfrm>
          <a:prstGeom prst="rect">
            <a:avLst/>
          </a:prstGeom>
          <a:noFill/>
        </p:spPr>
        <p:txBody>
          <a:bodyPr wrap="square" rtlCol="0">
            <a:spAutoFit/>
          </a:bodyPr>
          <a:lstStyle/>
          <a:p>
            <a:pPr marL="285750" indent="-285750" algn="just">
              <a:buFont typeface="Arial" pitchFamily="34" charset="0"/>
              <a:buChar char="•"/>
            </a:pPr>
            <a:r>
              <a:rPr lang="en-US" sz="2000" dirty="0">
                <a:solidFill>
                  <a:srgbClr val="746558"/>
                </a:solidFill>
                <a:latin typeface="Gelasio" charset="0"/>
                <a:cs typeface="Gelasio" charset="0"/>
              </a:rPr>
              <a:t>To analyze factors influencing scheduling performance at the </a:t>
            </a:r>
            <a:r>
              <a:rPr lang="en-US" sz="2000" b="1" dirty="0">
                <a:solidFill>
                  <a:srgbClr val="746558"/>
                </a:solidFill>
                <a:latin typeface="Gelasio" charset="0"/>
                <a:cs typeface="Gelasio" charset="0"/>
              </a:rPr>
              <a:t>MAC layer of 5G RAN </a:t>
            </a:r>
            <a:r>
              <a:rPr lang="en-US" sz="2000" dirty="0">
                <a:solidFill>
                  <a:srgbClr val="746558"/>
                </a:solidFill>
                <a:latin typeface="Gelasio" charset="0"/>
                <a:cs typeface="Gelasio" charset="0"/>
              </a:rPr>
              <a:t>systems, focusing on</a:t>
            </a:r>
            <a:r>
              <a:rPr lang="en-US" sz="2000" b="1" dirty="0">
                <a:solidFill>
                  <a:srgbClr val="746558"/>
                </a:solidFill>
                <a:latin typeface="Gelasio" charset="0"/>
                <a:cs typeface="Gelasio" charset="0"/>
              </a:rPr>
              <a:t> </a:t>
            </a:r>
            <a:r>
              <a:rPr lang="en-US" sz="2000" b="1" dirty="0" smtClean="0">
                <a:solidFill>
                  <a:srgbClr val="746558"/>
                </a:solidFill>
                <a:latin typeface="Gelasio" charset="0"/>
                <a:cs typeface="Gelasio" charset="0"/>
              </a:rPr>
              <a:t>improving system’s throughput ,</a:t>
            </a:r>
            <a:r>
              <a:rPr lang="en-US" sz="2000" dirty="0" smtClean="0">
                <a:solidFill>
                  <a:srgbClr val="746558"/>
                </a:solidFill>
                <a:latin typeface="Gelasio" charset="0"/>
                <a:cs typeface="Gelasio" charset="0"/>
              </a:rPr>
              <a:t> </a:t>
            </a:r>
            <a:r>
              <a:rPr lang="en-US" sz="2000" b="1" dirty="0" smtClean="0">
                <a:solidFill>
                  <a:srgbClr val="746558"/>
                </a:solidFill>
                <a:latin typeface="Gelasio" charset="0"/>
                <a:cs typeface="Gelasio" charset="0"/>
              </a:rPr>
              <a:t>user fairness and latency.</a:t>
            </a:r>
            <a:endParaRPr lang="en-US" sz="2000" b="1" dirty="0">
              <a:solidFill>
                <a:srgbClr val="746558"/>
              </a:solidFill>
              <a:latin typeface="Gelasio" charset="0"/>
              <a:cs typeface="Gelasio" charset="0"/>
            </a:endParaRPr>
          </a:p>
          <a:p>
            <a:pPr marL="285750" indent="-285750" algn="just">
              <a:buFont typeface="Arial" pitchFamily="34" charset="0"/>
              <a:buChar char="•"/>
            </a:pPr>
            <a:endParaRPr lang="en-US" sz="2000" dirty="0">
              <a:solidFill>
                <a:srgbClr val="746558"/>
              </a:solidFill>
              <a:latin typeface="Gelasio" charset="0"/>
              <a:cs typeface="Gelasio" charset="0"/>
            </a:endParaRPr>
          </a:p>
          <a:p>
            <a:pPr marL="285750" indent="-285750" algn="just">
              <a:buFont typeface="Arial" pitchFamily="34" charset="0"/>
              <a:buChar char="•"/>
            </a:pPr>
            <a:r>
              <a:rPr lang="en-US" sz="2000" dirty="0">
                <a:solidFill>
                  <a:srgbClr val="746558"/>
                </a:solidFill>
                <a:latin typeface="Gelasio" charset="0"/>
                <a:cs typeface="Gelasio" charset="0"/>
              </a:rPr>
              <a:t>To design and deploy</a:t>
            </a:r>
            <a:r>
              <a:rPr lang="en-US" sz="2000" b="1" dirty="0">
                <a:solidFill>
                  <a:srgbClr val="746558"/>
                </a:solidFill>
                <a:latin typeface="Gelasio" charset="0"/>
                <a:cs typeface="Gelasio" charset="0"/>
              </a:rPr>
              <a:t> AI/ML models </a:t>
            </a:r>
            <a:r>
              <a:rPr lang="en-US" sz="2000" dirty="0">
                <a:solidFill>
                  <a:srgbClr val="746558"/>
                </a:solidFill>
                <a:latin typeface="Gelasio" charset="0"/>
                <a:cs typeface="Gelasio" charset="0"/>
              </a:rPr>
              <a:t>that can learn scheduling patterns and adaptively optimize resource allocation strategies. </a:t>
            </a:r>
          </a:p>
          <a:p>
            <a:pPr marL="285750" indent="-285750" algn="just">
              <a:buFont typeface="Arial" pitchFamily="34" charset="0"/>
              <a:buChar char="•"/>
            </a:pPr>
            <a:endParaRPr lang="en-US" sz="2000" dirty="0">
              <a:solidFill>
                <a:srgbClr val="746558"/>
              </a:solidFill>
              <a:latin typeface="Gelasio" charset="0"/>
              <a:cs typeface="Gelasio" charset="0"/>
            </a:endParaRPr>
          </a:p>
          <a:p>
            <a:pPr marL="285750" indent="-285750" algn="just">
              <a:buFont typeface="Arial" pitchFamily="34" charset="0"/>
              <a:buChar char="•"/>
            </a:pPr>
            <a:r>
              <a:rPr lang="en-US" sz="2000" dirty="0">
                <a:solidFill>
                  <a:srgbClr val="746558"/>
                </a:solidFill>
                <a:latin typeface="Gelasio" charset="0"/>
                <a:cs typeface="Gelasio" charset="0"/>
              </a:rPr>
              <a:t>To evaluate the proposed scheduling approach against currently available AI/ML based 5G schedulers, </a:t>
            </a:r>
            <a:r>
              <a:rPr lang="en-US" sz="2000" b="1" dirty="0">
                <a:solidFill>
                  <a:srgbClr val="746558"/>
                </a:solidFill>
                <a:latin typeface="Gelasio" charset="0"/>
                <a:cs typeface="Gelasio" charset="0"/>
              </a:rPr>
              <a:t>highlighting improvements in </a:t>
            </a:r>
            <a:r>
              <a:rPr lang="en-US" sz="2000" b="1" dirty="0" smtClean="0">
                <a:solidFill>
                  <a:srgbClr val="746558"/>
                </a:solidFill>
                <a:latin typeface="Gelasio" charset="0"/>
                <a:cs typeface="Gelasio" charset="0"/>
              </a:rPr>
              <a:t>system’s throughput, user</a:t>
            </a:r>
            <a:r>
              <a:rPr lang="en-US" sz="2000" b="1" dirty="0" smtClean="0">
                <a:solidFill>
                  <a:srgbClr val="746558"/>
                </a:solidFill>
                <a:latin typeface="Gelasio" charset="0"/>
                <a:cs typeface="Gelasio" charset="0"/>
              </a:rPr>
              <a:t> fairness</a:t>
            </a:r>
            <a:r>
              <a:rPr lang="en-US" sz="2000" b="1" dirty="0">
                <a:solidFill>
                  <a:srgbClr val="746558"/>
                </a:solidFill>
                <a:latin typeface="Gelasio" charset="0"/>
                <a:cs typeface="Gelasio" charset="0"/>
              </a:rPr>
              <a:t> </a:t>
            </a:r>
            <a:r>
              <a:rPr lang="en-US" sz="2000" b="1" dirty="0" smtClean="0">
                <a:solidFill>
                  <a:srgbClr val="746558"/>
                </a:solidFill>
                <a:latin typeface="Gelasio" charset="0"/>
                <a:cs typeface="Gelasio" charset="0"/>
              </a:rPr>
              <a:t>and latency</a:t>
            </a:r>
            <a:r>
              <a:rPr lang="en-US" sz="2000" b="1" dirty="0" smtClean="0">
                <a:solidFill>
                  <a:srgbClr val="746558"/>
                </a:solidFill>
                <a:latin typeface="Gelasio" charset="0"/>
                <a:cs typeface="Gelasio" charset="0"/>
              </a:rPr>
              <a:t>.</a:t>
            </a:r>
            <a:endParaRPr lang="en-US" sz="2000" b="1" dirty="0">
              <a:solidFill>
                <a:srgbClr val="746558"/>
              </a:solidFill>
              <a:latin typeface="Gelasio" charset="0"/>
              <a:cs typeface="Gelasio" charset="0"/>
            </a:endParaRPr>
          </a:p>
        </p:txBody>
      </p:sp>
      <p:sp>
        <p:nvSpPr>
          <p:cNvPr id="2" name="Rectangle 1">
            <a:extLst>
              <a:ext uri="{FF2B5EF4-FFF2-40B4-BE49-F238E27FC236}">
                <a16:creationId xmlns:a16="http://schemas.microsoft.com/office/drawing/2014/main" xmlns="" id="{BA41E099-0F57-73BE-EC2E-6028704A4431}"/>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9613743-595A-F8E4-2BB8-564D6E2B0364}"/>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xmlns="" id="{AA1C6B8A-2067-F627-7A94-F47E69DFE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227" y="7706895"/>
            <a:ext cx="169545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xmlns="" id="{D670C64F-4464-7847-A647-521F0FF4B38B}"/>
              </a:ext>
            </a:extLst>
          </p:cNvPr>
          <p:cNvSpPr txBox="1"/>
          <p:nvPr/>
        </p:nvSpPr>
        <p:spPr>
          <a:xfrm>
            <a:off x="398896" y="333791"/>
            <a:ext cx="7566495" cy="777136"/>
          </a:xfrm>
          <a:prstGeom prst="rect">
            <a:avLst/>
          </a:prstGeom>
          <a:noFill/>
        </p:spPr>
        <p:txBody>
          <a:bodyPr wrap="none" rtlCol="0">
            <a:spAutoFit/>
          </a:bodyPr>
          <a:lstStyle/>
          <a:p>
            <a:r>
              <a:rPr lang="en-IN" sz="4450" b="1" dirty="0" smtClean="0">
                <a:solidFill>
                  <a:srgbClr val="746558"/>
                </a:solidFill>
                <a:latin typeface="Gelasio Semi Bold" charset="0"/>
                <a:cs typeface="Gelasio Semi Bold" charset="0"/>
              </a:rPr>
              <a:t>Functional Requirements:</a:t>
            </a:r>
            <a:endParaRPr lang="en-IN" sz="4450" b="1" dirty="0">
              <a:solidFill>
                <a:srgbClr val="746558"/>
              </a:solidFill>
              <a:latin typeface="Gelasio Semi Bold" charset="0"/>
              <a:cs typeface="Gelasio Semi Bold" charset="0"/>
            </a:endParaRPr>
          </a:p>
        </p:txBody>
      </p:sp>
      <p:sp>
        <p:nvSpPr>
          <p:cNvPr id="3" name="TextBox 2">
            <a:extLst>
              <a:ext uri="{FF2B5EF4-FFF2-40B4-BE49-F238E27FC236}">
                <a16:creationId xmlns:a16="http://schemas.microsoft.com/office/drawing/2014/main" xmlns="" id="{A074DACC-B6FE-E860-78F7-805DF9D8410B}"/>
              </a:ext>
            </a:extLst>
          </p:cNvPr>
          <p:cNvSpPr txBox="1"/>
          <p:nvPr/>
        </p:nvSpPr>
        <p:spPr>
          <a:xfrm>
            <a:off x="398896" y="1446296"/>
            <a:ext cx="13848046" cy="7171194"/>
          </a:xfrm>
          <a:prstGeom prst="rect">
            <a:avLst/>
          </a:prstGeom>
          <a:noFill/>
        </p:spPr>
        <p:txBody>
          <a:bodyPr wrap="square" rtlCol="0">
            <a:spAutoFit/>
          </a:bodyPr>
          <a:lstStyle/>
          <a:p>
            <a:pPr marL="342900" indent="-342900">
              <a:lnSpc>
                <a:spcPct val="200000"/>
              </a:lnSpc>
              <a:buFont typeface="Arial" pitchFamily="34" charset="0"/>
              <a:buChar char="•"/>
            </a:pPr>
            <a:r>
              <a:rPr lang="en-US" sz="2000" dirty="0" smtClean="0">
                <a:solidFill>
                  <a:srgbClr val="746558"/>
                </a:solidFill>
                <a:latin typeface="Gelasio Semi Bold" charset="0"/>
                <a:cs typeface="Gelasio Semi Bold" charset="0"/>
              </a:rPr>
              <a:t>The </a:t>
            </a:r>
            <a:r>
              <a:rPr lang="en-US" sz="2000" dirty="0">
                <a:solidFill>
                  <a:srgbClr val="746558"/>
                </a:solidFill>
                <a:latin typeface="Gelasio Semi Bold" charset="0"/>
                <a:cs typeface="Gelasio Semi Bold" charset="0"/>
              </a:rPr>
              <a:t>system shall collect real-time </a:t>
            </a:r>
            <a:r>
              <a:rPr lang="en-US" sz="2000" dirty="0" smtClean="0">
                <a:solidFill>
                  <a:srgbClr val="746558"/>
                </a:solidFill>
                <a:latin typeface="Gelasio Semi Bold" charset="0"/>
                <a:cs typeface="Gelasio Semi Bold" charset="0"/>
              </a:rPr>
              <a:t>KPI</a:t>
            </a:r>
            <a:r>
              <a:rPr lang="en-US" sz="2000" dirty="0" smtClean="0">
                <a:solidFill>
                  <a:srgbClr val="746558"/>
                </a:solidFill>
                <a:latin typeface="Gelasio Semi Bold" charset="0"/>
                <a:cs typeface="Gelasio Semi Bold" charset="0"/>
              </a:rPr>
              <a:t> </a:t>
            </a:r>
            <a:r>
              <a:rPr lang="en-US" sz="2000" dirty="0">
                <a:solidFill>
                  <a:srgbClr val="746558"/>
                </a:solidFill>
                <a:latin typeface="Gelasio Semi Bold" charset="0"/>
                <a:cs typeface="Gelasio Semi Bold" charset="0"/>
              </a:rPr>
              <a:t>metrics such </a:t>
            </a:r>
            <a:r>
              <a:rPr lang="en-US" sz="2000" dirty="0" smtClean="0">
                <a:solidFill>
                  <a:srgbClr val="746558"/>
                </a:solidFill>
                <a:latin typeface="Gelasio Semi Bold" charset="0"/>
                <a:cs typeface="Gelasio Semi Bold" charset="0"/>
              </a:rPr>
              <a:t>as </a:t>
            </a:r>
            <a:r>
              <a:rPr lang="en-US" sz="2000" dirty="0">
                <a:solidFill>
                  <a:srgbClr val="746558"/>
                </a:solidFill>
                <a:latin typeface="Gelasio Semi Bold" charset="0"/>
                <a:cs typeface="Gelasio Semi Bold" charset="0"/>
              </a:rPr>
              <a:t>PRB </a:t>
            </a:r>
            <a:r>
              <a:rPr lang="en-US" sz="2000" dirty="0" smtClean="0">
                <a:solidFill>
                  <a:srgbClr val="746558"/>
                </a:solidFill>
                <a:latin typeface="Gelasio Semi Bold" charset="0"/>
                <a:cs typeface="Gelasio Semi Bold" charset="0"/>
              </a:rPr>
              <a:t>utilization</a:t>
            </a:r>
            <a:r>
              <a:rPr lang="en-US" sz="2000" dirty="0">
                <a:solidFill>
                  <a:srgbClr val="746558"/>
                </a:solidFill>
                <a:latin typeface="Gelasio Semi Bold" charset="0"/>
                <a:cs typeface="Gelasio Semi Bold" charset="0"/>
              </a:rPr>
              <a:t> </a:t>
            </a:r>
            <a:r>
              <a:rPr lang="en-US" sz="2000" dirty="0" smtClean="0">
                <a:solidFill>
                  <a:srgbClr val="746558"/>
                </a:solidFill>
                <a:latin typeface="Gelasio Semi Bold" charset="0"/>
                <a:cs typeface="Gelasio Semi Bold" charset="0"/>
              </a:rPr>
              <a:t> </a:t>
            </a:r>
            <a:r>
              <a:rPr lang="en-US" sz="2000" dirty="0">
                <a:solidFill>
                  <a:srgbClr val="746558"/>
                </a:solidFill>
                <a:latin typeface="Gelasio Semi Bold" charset="0"/>
                <a:cs typeface="Gelasio Semi Bold" charset="0"/>
              </a:rPr>
              <a:t>and throughput </a:t>
            </a:r>
            <a:r>
              <a:rPr lang="en-US" sz="2000" dirty="0" smtClean="0">
                <a:solidFill>
                  <a:srgbClr val="746558"/>
                </a:solidFill>
                <a:latin typeface="Gelasio Semi Bold" charset="0"/>
                <a:cs typeface="Gelasio Semi Bold" charset="0"/>
              </a:rPr>
              <a:t>for both Uplink and Downlink from </a:t>
            </a:r>
            <a:r>
              <a:rPr lang="en-US" sz="2000" dirty="0">
                <a:solidFill>
                  <a:srgbClr val="746558"/>
                </a:solidFill>
                <a:latin typeface="Gelasio Semi Bold" charset="0"/>
                <a:cs typeface="Gelasio Semi Bold" charset="0"/>
              </a:rPr>
              <a:t>the OAI </a:t>
            </a:r>
            <a:r>
              <a:rPr lang="en-US" sz="2000" dirty="0" err="1">
                <a:solidFill>
                  <a:srgbClr val="746558"/>
                </a:solidFill>
                <a:latin typeface="Gelasio Semi Bold" charset="0"/>
                <a:cs typeface="Gelasio Semi Bold" charset="0"/>
              </a:rPr>
              <a:t>gNB</a:t>
            </a:r>
            <a:r>
              <a:rPr lang="en-US" sz="2000" dirty="0">
                <a:solidFill>
                  <a:srgbClr val="746558"/>
                </a:solidFill>
                <a:latin typeface="Gelasio Semi Bold" charset="0"/>
                <a:cs typeface="Gelasio Semi Bold" charset="0"/>
              </a:rPr>
              <a:t> through the E2 interface.</a:t>
            </a:r>
          </a:p>
          <a:p>
            <a:pPr marL="342900" indent="-342900">
              <a:lnSpc>
                <a:spcPct val="200000"/>
              </a:lnSpc>
              <a:buFont typeface="Arial" pitchFamily="34" charset="0"/>
              <a:buChar char="•"/>
            </a:pPr>
            <a:r>
              <a:rPr lang="en-US" sz="2000" dirty="0">
                <a:solidFill>
                  <a:srgbClr val="746558"/>
                </a:solidFill>
                <a:latin typeface="Gelasio Semi Bold" charset="0"/>
                <a:cs typeface="Gelasio Semi Bold" charset="0"/>
              </a:rPr>
              <a:t>The system shall train an LSTM-based model using the generated dataset to learn scheduling patterns.</a:t>
            </a:r>
          </a:p>
          <a:p>
            <a:pPr marL="342900" indent="-342900">
              <a:lnSpc>
                <a:spcPct val="200000"/>
              </a:lnSpc>
              <a:buFont typeface="Arial" pitchFamily="34" charset="0"/>
              <a:buChar char="•"/>
            </a:pPr>
            <a:r>
              <a:rPr lang="en-US" sz="2000" dirty="0">
                <a:solidFill>
                  <a:srgbClr val="746558"/>
                </a:solidFill>
                <a:latin typeface="Gelasio Semi Bold" charset="0"/>
                <a:cs typeface="Gelasio Semi Bold" charset="0"/>
              </a:rPr>
              <a:t>The system shall </a:t>
            </a:r>
            <a:r>
              <a:rPr lang="en-US" sz="2000" dirty="0" smtClean="0">
                <a:solidFill>
                  <a:srgbClr val="746558"/>
                </a:solidFill>
                <a:latin typeface="Gelasio Semi Bold" charset="0"/>
                <a:cs typeface="Gelasio Semi Bold" charset="0"/>
              </a:rPr>
              <a:t>enforce</a:t>
            </a:r>
            <a:r>
              <a:rPr lang="en-US" sz="2000" dirty="0" smtClean="0">
                <a:solidFill>
                  <a:srgbClr val="746558"/>
                </a:solidFill>
                <a:latin typeface="Gelasio Semi Bold" charset="0"/>
                <a:cs typeface="Gelasio Semi Bold" charset="0"/>
              </a:rPr>
              <a:t> </a:t>
            </a:r>
            <a:r>
              <a:rPr lang="en-US" sz="2000" dirty="0">
                <a:solidFill>
                  <a:srgbClr val="746558"/>
                </a:solidFill>
                <a:latin typeface="Gelasio Semi Bold" charset="0"/>
                <a:cs typeface="Gelasio Semi Bold" charset="0"/>
              </a:rPr>
              <a:t>scheduling decisions (DL/UL resource allocation) for active UEs based on model predictions.</a:t>
            </a:r>
          </a:p>
          <a:p>
            <a:pPr marL="342900" indent="-342900">
              <a:lnSpc>
                <a:spcPct val="200000"/>
              </a:lnSpc>
              <a:buFont typeface="Arial" pitchFamily="34" charset="0"/>
              <a:buChar char="•"/>
            </a:pPr>
            <a:r>
              <a:rPr lang="en-US" sz="2000" dirty="0">
                <a:solidFill>
                  <a:srgbClr val="746558"/>
                </a:solidFill>
                <a:latin typeface="Gelasio Semi Bold" charset="0"/>
                <a:cs typeface="Gelasio Semi Bold" charset="0"/>
              </a:rPr>
              <a:t>The system shall detect model drift using RMSE deviation and other statistical drift indicators.</a:t>
            </a:r>
          </a:p>
          <a:p>
            <a:pPr marL="342900" indent="-342900">
              <a:lnSpc>
                <a:spcPct val="200000"/>
              </a:lnSpc>
              <a:buFont typeface="Arial" pitchFamily="34" charset="0"/>
              <a:buChar char="•"/>
            </a:pPr>
            <a:r>
              <a:rPr lang="en-US" sz="2000" dirty="0">
                <a:solidFill>
                  <a:srgbClr val="746558"/>
                </a:solidFill>
                <a:latin typeface="Gelasio Semi Bold" charset="0"/>
                <a:cs typeface="Gelasio Semi Bold" charset="0"/>
              </a:rPr>
              <a:t>Upon detecting drift, the system shall perform adaptation by either:</a:t>
            </a:r>
          </a:p>
          <a:p>
            <a:pPr marL="800100" lvl="1" indent="-342900">
              <a:lnSpc>
                <a:spcPct val="200000"/>
              </a:lnSpc>
              <a:buFont typeface="Arial" pitchFamily="34" charset="0"/>
              <a:buChar char="•"/>
            </a:pPr>
            <a:r>
              <a:rPr lang="en-IN" sz="2000" dirty="0">
                <a:solidFill>
                  <a:srgbClr val="746558"/>
                </a:solidFill>
                <a:latin typeface="Gelasio Semi Bold" panose="020B0604020202020204" charset="0"/>
                <a:cs typeface="Gelasio Semi Bold" charset="0"/>
              </a:rPr>
              <a:t>Retraining the model in case of sudden drift, or</a:t>
            </a:r>
          </a:p>
          <a:p>
            <a:pPr marL="800100" lvl="1" indent="-342900">
              <a:lnSpc>
                <a:spcPct val="200000"/>
              </a:lnSpc>
              <a:buFont typeface="Arial" pitchFamily="34" charset="0"/>
              <a:buChar char="•"/>
            </a:pPr>
            <a:r>
              <a:rPr lang="en-US" sz="2000" dirty="0" smtClean="0">
                <a:solidFill>
                  <a:srgbClr val="746558"/>
                </a:solidFill>
                <a:latin typeface="Gelasio Semi Bold" panose="020B0604020202020204" charset="0"/>
                <a:cs typeface="Gelasio Semi Bold" charset="0"/>
              </a:rPr>
              <a:t>Adjust certain parameters as to improve scheduling in place in case drift is gradual</a:t>
            </a:r>
            <a:r>
              <a:rPr lang="en-US" sz="2000" dirty="0" smtClean="0">
                <a:solidFill>
                  <a:srgbClr val="746558"/>
                </a:solidFill>
                <a:latin typeface="Gelasio Semi Bold" panose="020B0604020202020204" charset="0"/>
                <a:cs typeface="Gelasio Semi Bold" charset="0"/>
              </a:rPr>
              <a:t>.</a:t>
            </a:r>
            <a:endParaRPr lang="en-US" sz="2000" dirty="0">
              <a:solidFill>
                <a:srgbClr val="746558"/>
              </a:solidFill>
              <a:latin typeface="Gelasio Semi Bold" panose="020B0604020202020204" charset="0"/>
              <a:cs typeface="Gelasio Semi Bold" charset="0"/>
            </a:endParaRP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The system shall provide scheduling decisions to the </a:t>
            </a:r>
            <a:r>
              <a:rPr lang="en-US" sz="2000" dirty="0" err="1">
                <a:solidFill>
                  <a:srgbClr val="746558"/>
                </a:solidFill>
                <a:latin typeface="Gelasio Semi Bold" panose="020B0604020202020204" charset="0"/>
                <a:cs typeface="Gelasio Semi Bold" charset="0"/>
              </a:rPr>
              <a:t>gNB</a:t>
            </a:r>
            <a:r>
              <a:rPr lang="en-US" sz="2000" dirty="0">
                <a:solidFill>
                  <a:srgbClr val="746558"/>
                </a:solidFill>
                <a:latin typeface="Gelasio Semi Bold" panose="020B0604020202020204" charset="0"/>
                <a:cs typeface="Gelasio Semi Bold" charset="0"/>
              </a:rPr>
              <a:t> via a custom </a:t>
            </a:r>
            <a:r>
              <a:rPr lang="en-US" sz="2000" dirty="0" err="1">
                <a:solidFill>
                  <a:srgbClr val="746558"/>
                </a:solidFill>
                <a:latin typeface="Gelasio Semi Bold" panose="020B0604020202020204" charset="0"/>
                <a:cs typeface="Gelasio Semi Bold" charset="0"/>
              </a:rPr>
              <a:t>xApp</a:t>
            </a:r>
            <a:r>
              <a:rPr lang="en-US" sz="2000" dirty="0">
                <a:solidFill>
                  <a:srgbClr val="746558"/>
                </a:solidFill>
                <a:latin typeface="Gelasio Semi Bold" panose="020B0604020202020204" charset="0"/>
                <a:cs typeface="Gelasio Semi Bold" charset="0"/>
              </a:rPr>
              <a:t> deployed on </a:t>
            </a:r>
            <a:r>
              <a:rPr lang="en-US" sz="2000" dirty="0" err="1">
                <a:solidFill>
                  <a:srgbClr val="746558"/>
                </a:solidFill>
                <a:latin typeface="Gelasio Semi Bold" panose="020B0604020202020204" charset="0"/>
                <a:cs typeface="Gelasio Semi Bold" charset="0"/>
              </a:rPr>
              <a:t>FlexRIC</a:t>
            </a:r>
            <a:r>
              <a:rPr lang="en-US" sz="2000" dirty="0">
                <a:solidFill>
                  <a:srgbClr val="746558"/>
                </a:solidFill>
                <a:latin typeface="Gelasio Semi Bold" panose="020B0604020202020204" charset="0"/>
                <a:cs typeface="Gelasio Semi Bold" charset="0"/>
              </a:rPr>
              <a:t>.</a:t>
            </a:r>
          </a:p>
          <a:p>
            <a:endParaRPr lang="en-US" sz="2000" dirty="0">
              <a:solidFill>
                <a:srgbClr val="746558"/>
              </a:solidFill>
              <a:latin typeface="Gelasio Semi Bold" panose="020B0604020202020204" charset="0"/>
              <a:cs typeface="Gelasio Semi Bold" charset="0"/>
            </a:endParaRPr>
          </a:p>
          <a:p>
            <a:pPr marL="342900" indent="-342900">
              <a:buFont typeface="Arial" pitchFamily="34" charset="0"/>
              <a:buChar char="•"/>
            </a:pPr>
            <a:endParaRPr lang="en-IN" sz="2000" dirty="0">
              <a:solidFill>
                <a:srgbClr val="746558"/>
              </a:solidFill>
              <a:latin typeface="Gelasio Semi Bold" panose="020B0604020202020204" charset="0"/>
              <a:cs typeface="Gelasio Semi Bold" charset="0"/>
            </a:endParaRPr>
          </a:p>
          <a:p>
            <a:pPr lvl="1"/>
            <a:endParaRPr lang="en-IN" sz="2000" dirty="0">
              <a:solidFill>
                <a:srgbClr val="746558"/>
              </a:solidFill>
              <a:latin typeface="Gelasio Semi Bold" panose="020B0604020202020204" charset="0"/>
              <a:cs typeface="Gelasio Semi Bold" charset="0"/>
            </a:endParaRPr>
          </a:p>
        </p:txBody>
      </p:sp>
    </p:spTree>
    <p:extLst>
      <p:ext uri="{BB962C8B-B14F-4D97-AF65-F5344CB8AC3E}">
        <p14:creationId xmlns:p14="http://schemas.microsoft.com/office/powerpoint/2010/main" val="22516522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FD9816D-48B5-4D9D-6EA0-F33B21953C48}"/>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xmlns="" id="{FB9A071C-25A6-BA00-3F81-74E03DA92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227" y="7706895"/>
            <a:ext cx="169545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xmlns="" id="{1DAE7ECF-6A08-2FDA-55F1-6B7CC75D589D}"/>
              </a:ext>
            </a:extLst>
          </p:cNvPr>
          <p:cNvSpPr txBox="1"/>
          <p:nvPr/>
        </p:nvSpPr>
        <p:spPr>
          <a:xfrm>
            <a:off x="398896" y="333791"/>
            <a:ext cx="9660017" cy="830997"/>
          </a:xfrm>
          <a:prstGeom prst="rect">
            <a:avLst/>
          </a:prstGeom>
          <a:noFill/>
        </p:spPr>
        <p:txBody>
          <a:bodyPr wrap="none" rtlCol="0">
            <a:spAutoFit/>
          </a:bodyPr>
          <a:lstStyle/>
          <a:p>
            <a:r>
              <a:rPr lang="en-IN" sz="4800" dirty="0">
                <a:solidFill>
                  <a:srgbClr val="746558"/>
                </a:solidFill>
                <a:latin typeface="Gelasio Semi Bold" charset="0"/>
                <a:cs typeface="Gelasio Semi Bold" charset="0"/>
              </a:rPr>
              <a:t>Non-Functional Requirements:</a:t>
            </a:r>
            <a:endParaRPr lang="en-IN" sz="4800" dirty="0">
              <a:solidFill>
                <a:srgbClr val="746558"/>
              </a:solidFill>
              <a:latin typeface="Gelasio Semi Bold" charset="0"/>
              <a:cs typeface="Gelasio Semi Bold" charset="0"/>
            </a:endParaRPr>
          </a:p>
        </p:txBody>
      </p:sp>
      <p:sp>
        <p:nvSpPr>
          <p:cNvPr id="3" name="TextBox 2">
            <a:extLst>
              <a:ext uri="{FF2B5EF4-FFF2-40B4-BE49-F238E27FC236}">
                <a16:creationId xmlns:a16="http://schemas.microsoft.com/office/drawing/2014/main" xmlns="" id="{7BEA2BBA-A4D1-CE2D-0599-C65FEDE11DA4}"/>
              </a:ext>
            </a:extLst>
          </p:cNvPr>
          <p:cNvSpPr txBox="1"/>
          <p:nvPr/>
        </p:nvSpPr>
        <p:spPr>
          <a:xfrm>
            <a:off x="398896" y="1446296"/>
            <a:ext cx="13848046" cy="5478423"/>
          </a:xfrm>
          <a:prstGeom prst="rect">
            <a:avLst/>
          </a:prstGeom>
          <a:noFill/>
        </p:spPr>
        <p:txBody>
          <a:bodyPr wrap="square" rtlCol="0">
            <a:spAutoFit/>
          </a:bodyPr>
          <a:lstStyle/>
          <a:p>
            <a:endParaRPr lang="en-IN" sz="3000" dirty="0">
              <a:solidFill>
                <a:srgbClr val="746558"/>
              </a:solidFill>
              <a:latin typeface="Gelasio Semi Bold" charset="0"/>
              <a:cs typeface="Gelasio Semi Bold" charset="0"/>
            </a:endParaRPr>
          </a:p>
          <a:p>
            <a:pPr marL="342900" indent="-342900">
              <a:lnSpc>
                <a:spcPct val="200000"/>
              </a:lnSpc>
              <a:buFont typeface="Arial" pitchFamily="34" charset="0"/>
              <a:buChar char="•"/>
            </a:pPr>
            <a:r>
              <a:rPr lang="en-US" sz="2000" dirty="0" smtClean="0">
                <a:solidFill>
                  <a:srgbClr val="746558"/>
                </a:solidFill>
                <a:latin typeface="Gelasio Semi Bold" panose="020B0604020202020204" charset="0"/>
                <a:cs typeface="Gelasio Semi Bold" charset="0"/>
              </a:rPr>
              <a:t>The </a:t>
            </a:r>
            <a:r>
              <a:rPr lang="en-US" sz="2000" dirty="0">
                <a:solidFill>
                  <a:srgbClr val="746558"/>
                </a:solidFill>
                <a:latin typeface="Gelasio Semi Bold" panose="020B0604020202020204" charset="0"/>
                <a:cs typeface="Gelasio Semi Bold" charset="0"/>
              </a:rPr>
              <a:t>scheduler shall compute scheduling decisions within 1–10 </a:t>
            </a:r>
            <a:r>
              <a:rPr lang="en-US" sz="2000" dirty="0" err="1">
                <a:solidFill>
                  <a:srgbClr val="746558"/>
                </a:solidFill>
                <a:latin typeface="Gelasio Semi Bold" panose="020B0604020202020204" charset="0"/>
                <a:cs typeface="Gelasio Semi Bold" charset="0"/>
              </a:rPr>
              <a:t>ms</a:t>
            </a:r>
            <a:r>
              <a:rPr lang="en-US" sz="2000" dirty="0">
                <a:solidFill>
                  <a:srgbClr val="746558"/>
                </a:solidFill>
                <a:latin typeface="Gelasio Semi Bold" panose="020B0604020202020204" charset="0"/>
                <a:cs typeface="Gelasio Semi Bold" charset="0"/>
              </a:rPr>
              <a:t>, matching 5G NR TTI constraints.</a:t>
            </a: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Drift detection shall run with less than 5% CPU overhead on the RIC host.</a:t>
            </a: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The </a:t>
            </a:r>
            <a:r>
              <a:rPr lang="en-US" sz="2000" dirty="0" err="1">
                <a:solidFill>
                  <a:srgbClr val="746558"/>
                </a:solidFill>
                <a:latin typeface="Gelasio Semi Bold" panose="020B0604020202020204" charset="0"/>
                <a:cs typeface="Gelasio Semi Bold" charset="0"/>
              </a:rPr>
              <a:t>xApp</a:t>
            </a:r>
            <a:r>
              <a:rPr lang="en-US" sz="2000" dirty="0">
                <a:solidFill>
                  <a:srgbClr val="746558"/>
                </a:solidFill>
                <a:latin typeface="Gelasio Semi Bold" panose="020B0604020202020204" charset="0"/>
                <a:cs typeface="Gelasio Semi Bold" charset="0"/>
              </a:rPr>
              <a:t> shall handle at least 20 simultaneous UEs during experiments.</a:t>
            </a: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The ML inference engine shall utilize no more than 30% GPU/CPU resources during runtime.</a:t>
            </a: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Database queries for KPI retrieval shall respond within 100 </a:t>
            </a:r>
            <a:r>
              <a:rPr lang="en-US" sz="2000" dirty="0" err="1">
                <a:solidFill>
                  <a:srgbClr val="746558"/>
                </a:solidFill>
                <a:latin typeface="Gelasio Semi Bold" panose="020B0604020202020204" charset="0"/>
                <a:cs typeface="Gelasio Semi Bold" charset="0"/>
              </a:rPr>
              <a:t>ms.</a:t>
            </a:r>
            <a:endParaRPr lang="en-US" sz="2000" dirty="0">
              <a:solidFill>
                <a:srgbClr val="746558"/>
              </a:solidFill>
              <a:latin typeface="Gelasio Semi Bold" panose="020B0604020202020204" charset="0"/>
              <a:cs typeface="Gelasio Semi Bold" charset="0"/>
            </a:endParaRP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The scheduler shall achieve at least 99% availability during continuous testing.</a:t>
            </a:r>
          </a:p>
          <a:p>
            <a:pPr marL="342900" indent="-342900">
              <a:lnSpc>
                <a:spcPct val="200000"/>
              </a:lnSpc>
              <a:buFont typeface="Arial" pitchFamily="34" charset="0"/>
              <a:buChar char="•"/>
            </a:pPr>
            <a:r>
              <a:rPr lang="en-US" sz="2000" dirty="0">
                <a:solidFill>
                  <a:srgbClr val="746558"/>
                </a:solidFill>
                <a:latin typeface="Gelasio Semi Bold" panose="020B0604020202020204" charset="0"/>
                <a:cs typeface="Gelasio Semi Bold" charset="0"/>
              </a:rPr>
              <a:t>The system must recover from </a:t>
            </a:r>
            <a:r>
              <a:rPr lang="en-US" sz="2000" dirty="0" err="1">
                <a:solidFill>
                  <a:srgbClr val="746558"/>
                </a:solidFill>
                <a:latin typeface="Gelasio Semi Bold" panose="020B0604020202020204" charset="0"/>
                <a:cs typeface="Gelasio Semi Bold" charset="0"/>
              </a:rPr>
              <a:t>xApp</a:t>
            </a:r>
            <a:r>
              <a:rPr lang="en-US" sz="2000" dirty="0">
                <a:solidFill>
                  <a:srgbClr val="746558"/>
                </a:solidFill>
                <a:latin typeface="Gelasio Semi Bold" panose="020B0604020202020204" charset="0"/>
                <a:cs typeface="Gelasio Semi Bold" charset="0"/>
              </a:rPr>
              <a:t> failure within 2 seconds by restarting automatically.</a:t>
            </a:r>
          </a:p>
          <a:p>
            <a:pPr marL="342900" indent="-342900">
              <a:buFont typeface="Arial" pitchFamily="34" charset="0"/>
              <a:buChar char="•"/>
            </a:pPr>
            <a:endParaRPr lang="en-IN" sz="2000" dirty="0">
              <a:solidFill>
                <a:srgbClr val="746558"/>
              </a:solidFill>
              <a:latin typeface="Gelasio Semi Bold" panose="020B0604020202020204" charset="0"/>
              <a:cs typeface="Gelasio Semi Bold" charset="0"/>
            </a:endParaRPr>
          </a:p>
          <a:p>
            <a:pPr lvl="1"/>
            <a:endParaRPr lang="en-IN" sz="2000" dirty="0">
              <a:solidFill>
                <a:srgbClr val="746558"/>
              </a:solidFill>
              <a:latin typeface="Gelasio Semi Bold" panose="020B0604020202020204" charset="0"/>
              <a:cs typeface="Gelasio Semi Bold" charset="0"/>
            </a:endParaRPr>
          </a:p>
        </p:txBody>
      </p:sp>
    </p:spTree>
    <p:extLst>
      <p:ext uri="{BB962C8B-B14F-4D97-AF65-F5344CB8AC3E}">
        <p14:creationId xmlns:p14="http://schemas.microsoft.com/office/powerpoint/2010/main" val="11413814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479905" y="766381"/>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System Model</a:t>
            </a:r>
            <a:endParaRPr lang="en-US" sz="4450" dirty="0">
              <a:solidFill>
                <a:srgbClr val="746558"/>
              </a:solidFill>
            </a:endParaRPr>
          </a:p>
        </p:txBody>
      </p:sp>
      <p:sp>
        <p:nvSpPr>
          <p:cNvPr id="4" name="Rectangle 3">
            <a:extLst>
              <a:ext uri="{FF2B5EF4-FFF2-40B4-BE49-F238E27FC236}">
                <a16:creationId xmlns:a16="http://schemas.microsoft.com/office/drawing/2014/main" xmlns="" id="{7160EF56-3A19-9BF2-140F-ED50B056C0F8}"/>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xmlns="" id="{8C522583-78A0-1319-1D4E-5E4D8250579B}"/>
              </a:ext>
            </a:extLst>
          </p:cNvPr>
          <p:cNvPicPr>
            <a:picLocks noChangeAspect="1"/>
          </p:cNvPicPr>
          <p:nvPr/>
        </p:nvPicPr>
        <p:blipFill>
          <a:blip r:embed="rId3"/>
          <a:stretch>
            <a:fillRect/>
          </a:stretch>
        </p:blipFill>
        <p:spPr>
          <a:xfrm>
            <a:off x="836645" y="1648420"/>
            <a:ext cx="12957110" cy="620018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2"/>
          <p:cNvSpPr/>
          <p:nvPr/>
        </p:nvSpPr>
        <p:spPr>
          <a:xfrm>
            <a:off x="4480903" y="1271206"/>
            <a:ext cx="5670590" cy="708779"/>
          </a:xfrm>
          <a:prstGeom prst="rect">
            <a:avLst/>
          </a:prstGeom>
          <a:noFill/>
          <a:ln>
            <a:noFill/>
          </a:ln>
        </p:spPr>
        <p:txBody>
          <a:bodyPr spcFirstLastPara="1" wrap="square" lIns="0" tIns="0" rIns="0" bIns="0" anchor="t" anchorCtr="0">
            <a:noAutofit/>
          </a:bodyPr>
          <a:lstStyle/>
          <a:p>
            <a:pPr marL="0" marR="0" lvl="0" indent="0" algn="ctr" rtl="0">
              <a:lnSpc>
                <a:spcPct val="124719"/>
              </a:lnSpc>
              <a:spcBef>
                <a:spcPts val="0"/>
              </a:spcBef>
              <a:spcAft>
                <a:spcPts val="0"/>
              </a:spcAft>
              <a:buClr>
                <a:srgbClr val="746558"/>
              </a:buClr>
              <a:buSzPts val="4450"/>
              <a:buFont typeface="Gelasio SemiBold"/>
              <a:buNone/>
            </a:pPr>
            <a:r>
              <a:rPr lang="en-US" sz="4450" b="1" dirty="0">
                <a:solidFill>
                  <a:srgbClr val="746558"/>
                </a:solidFill>
                <a:latin typeface="Gelasio SemiBold"/>
                <a:ea typeface="Gelasio SemiBold"/>
                <a:cs typeface="Gelasio SemiBold"/>
                <a:sym typeface="Gelasio SemiBold"/>
              </a:rPr>
              <a:t>System Model:</a:t>
            </a:r>
            <a:endParaRPr sz="4450" dirty="0">
              <a:solidFill>
                <a:srgbClr val="746558"/>
              </a:solidFill>
              <a:latin typeface="Calibri"/>
              <a:ea typeface="Calibri"/>
              <a:cs typeface="Calibri"/>
              <a:sym typeface="Calibri"/>
            </a:endParaRPr>
          </a:p>
        </p:txBody>
      </p:sp>
      <p:sp>
        <p:nvSpPr>
          <p:cNvPr id="449" name="Google Shape;449;p52"/>
          <p:cNvSpPr/>
          <p:nvPr/>
        </p:nvSpPr>
        <p:spPr>
          <a:xfrm>
            <a:off x="12839700" y="7762875"/>
            <a:ext cx="1695450" cy="400050"/>
          </a:xfrm>
          <a:prstGeom prst="rect">
            <a:avLst/>
          </a:prstGeom>
          <a:solidFill>
            <a:srgbClr val="F8F4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50" name="Google Shape;450;p52" descr="https://img.plantuml.biz/plantuml/png/ZLJDRjD04Bv7oZkCUgaj55KD5AG8KDF4BH4aXAOH5ovRU-EiijurkslI2lNA0_28F0apQpjsMeAwf_NCzytEDpy-juuPLsIosx4ReN9cM0QnpdAjk78BToyv61uxfbB9snYxPedU2fN2YacBBibN3fm68zArWqGGIsZLxNGxn-yE77J1bT553gS3EBk21RwJC8blmz34Q-4mHc7uVoFaBDwmbCFHOVuH_Ens0CzEc4UFDBcOzPSdWAWFCvrm2DBPHUXXU7c2Mbfk8FfUY3oZxs0PbTXbHC89JC6XrtlVqF42taAWXsSMg3-06MUcTtq3rvCH15lXrd0f-HrzlO3Xv6Jw2Uw6UMx3vvMh5MrNdqVYFiudCDLAE6seqHJTYqDxWq-OOxVCyX8-hhuyRdpnpx2ZBnEO6vu8Fo1DMBJNHQD38Y3ARdcIyAGIM6Slb1NOcrg_LrRpTWfBoXIRA67A5DgeHtjY7sNMPjmO9jIUR6yvo1qRWGlm0GTG4kiIbuHljTaqV8ze-0-rM2-K2eTwzDO2jLQelNRl12uZFpbKwW44fo54_T915lACSRRGqm_Xgy7vRtf5LMy1NjQ0gXDOObz_WfPItlPw14Rign3cXPHGDnY27uB1gB1EPp2SJy8sZTxmbIBcMGZ3XEME-Kuld66Ef_Tm0iiSvwPQkX9DFChHP_SwzFUo4sqi9jG0FVPpJh6PB5FKAyhos9Rezdh1I7A6ESHhdXI-HP5QQHFxeO2LGIdrEFtvzTilQRantKvTEh8Du9iAteGLcSAq8evvB6prqpldAl7_rRy0"/>
          <p:cNvPicPr preferRelativeResize="0"/>
          <p:nvPr/>
        </p:nvPicPr>
        <p:blipFill rotWithShape="1">
          <a:blip r:embed="rId3">
            <a:alphaModFix/>
          </a:blip>
          <a:srcRect/>
          <a:stretch/>
        </p:blipFill>
        <p:spPr>
          <a:xfrm>
            <a:off x="998" y="2563183"/>
            <a:ext cx="14630400" cy="3566311"/>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16982" y="484823"/>
            <a:ext cx="2864644" cy="358021"/>
          </a:xfrm>
          <a:prstGeom prst="rect">
            <a:avLst/>
          </a:prstGeom>
          <a:noFill/>
          <a:ln/>
        </p:spPr>
        <p:txBody>
          <a:bodyPr wrap="none" lIns="0" tIns="0" rIns="0" bIns="0" rtlCol="0" anchor="t"/>
          <a:lstStyle/>
          <a:p>
            <a:pPr marL="0" indent="0" algn="l">
              <a:lnSpc>
                <a:spcPts val="2800"/>
              </a:lnSpc>
              <a:buNone/>
            </a:pPr>
            <a:r>
              <a:rPr lang="en-US" sz="4450" b="1" dirty="0">
                <a:solidFill>
                  <a:srgbClr val="746558"/>
                </a:solidFill>
                <a:latin typeface="Gelasio Semi Bold" pitchFamily="34" charset="0"/>
                <a:ea typeface="Gelasio Semi Bold" pitchFamily="34" charset="-122"/>
                <a:cs typeface="Gelasio Semi Bold" pitchFamily="34" charset="-120"/>
              </a:rPr>
              <a:t>Flowchart</a:t>
            </a:r>
            <a:endParaRPr lang="en-US" sz="4450" b="1" dirty="0">
              <a:solidFill>
                <a:srgbClr val="746558"/>
              </a:solidFill>
            </a:endParaRPr>
          </a:p>
        </p:txBody>
      </p:sp>
      <p:sp>
        <p:nvSpPr>
          <p:cNvPr id="5" name="Rectangle 4">
            <a:extLst>
              <a:ext uri="{FF2B5EF4-FFF2-40B4-BE49-F238E27FC236}">
                <a16:creationId xmlns:a16="http://schemas.microsoft.com/office/drawing/2014/main" xmlns="" id="{995E619C-3CC7-B6EA-048E-B9652A408BEB}"/>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xmlns="" id="{508A0CF9-BE97-2791-08DA-B85F79A222EB}"/>
              </a:ext>
            </a:extLst>
          </p:cNvPr>
          <p:cNvPicPr>
            <a:picLocks noChangeAspect="1"/>
          </p:cNvPicPr>
          <p:nvPr/>
        </p:nvPicPr>
        <p:blipFill>
          <a:blip r:embed="rId3"/>
          <a:stretch>
            <a:fillRect/>
          </a:stretch>
        </p:blipFill>
        <p:spPr>
          <a:xfrm>
            <a:off x="8059479" y="962024"/>
            <a:ext cx="5592725" cy="7267576"/>
          </a:xfrm>
          <a:prstGeom prst="rect">
            <a:avLst/>
          </a:prstGeom>
        </p:spPr>
      </p:pic>
      <p:pic>
        <p:nvPicPr>
          <p:cNvPr id="2050" name="Picture 2" descr="https://img.plantuml.biz/plantuml/png/VLFBRjim4BphAxOt6qXGD40l5j36KPp0Q9AwbdigUc2abRG0HGhaqevxwgaVKEGByoLTCigZHj6B175dPuQpgrFFod7eTVPcSAhj5MYrju71zyZAg8o9DS9AGF0E7dxUm_jBAETG8eS1bAdXqse99JjKFPaM9bVOC9HKupJB4dSsMnfYKff-O6mkhCCycvtZeEqUsfip-LZqGIj6-BhmYJCr0ZlLD5H1YmQTOh8cGgLsgybti3W1CeokKHN2BV8EqKI-n723oXslDx1U5ddshFRg5Excm-3pp5ZHTTHsd04SfzjSMp5iNK80fEEhSdCDAuSrLGULSqTouNDaFAnyDfeCmiOfUVrLAQiEww3biB26dTLwh6SergCZiNo6BHb9HA9sMwfYPaL4LXnDUfWKNvP7iEcS3Mqt13w2rVhi2ChbpNeAMrAIZxIKOWeV6uHDsqffk0rD8u9leLQIfVAH-WAnVeInFRYjvBVhI9PW8cOyUY-3a35LJ5lyE0KIAtlqKxdPREm1WtV99Up8r7O7mSVTYBHvX1Ms7vJO6XxXehnDX47CHG_Fe22pML-NYpJIEYKjX5GfiIKeWL43auJu0Dmvz9tLjPZYJdRXoPQGNMZLGXMSGyEZgIY2sikrZ1rHSHfa0ie8N2zUxF2yTu8LuUP9Cl6bcWXhwed_8VhjzMvW_HqUVls6IniJJl_JIPvmdktm7oyl6v1I69TJydmn9SznGh5zDjSQNezAobZdMT8vbG_vs_y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613" y="962024"/>
            <a:ext cx="5534025" cy="72008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7373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46558"/>
                </a:solidFill>
                <a:latin typeface="Gelasio Semi Bold" pitchFamily="34" charset="0"/>
                <a:ea typeface="Gelasio Semi Bold" pitchFamily="34" charset="-122"/>
                <a:cs typeface="Gelasio Semi Bold" pitchFamily="34" charset="-120"/>
              </a:rPr>
              <a:t>Feasibility Study</a:t>
            </a:r>
            <a:endParaRPr lang="en-US" sz="4450" dirty="0">
              <a:solidFill>
                <a:srgbClr val="746558"/>
              </a:solidFill>
            </a:endParaRPr>
          </a:p>
        </p:txBody>
      </p:sp>
      <p:sp>
        <p:nvSpPr>
          <p:cNvPr id="3" name="Text 1"/>
          <p:cNvSpPr/>
          <p:nvPr/>
        </p:nvSpPr>
        <p:spPr>
          <a:xfrm>
            <a:off x="793785" y="1929288"/>
            <a:ext cx="13042821" cy="362903"/>
          </a:xfrm>
          <a:prstGeom prst="rect">
            <a:avLst/>
          </a:prstGeom>
          <a:noFill/>
          <a:ln/>
        </p:spPr>
        <p:txBody>
          <a:bodyPr wrap="none" lIns="0" tIns="0" rIns="0" bIns="0" rtlCol="0" anchor="t"/>
          <a:lstStyle/>
          <a:p>
            <a:pPr marL="514350" indent="-514350" algn="l">
              <a:lnSpc>
                <a:spcPts val="2850"/>
              </a:lnSpc>
              <a:buSzPct val="100000"/>
              <a:buFont typeface="+mj-lt"/>
              <a:buAutoNum type="arabicPeriod"/>
            </a:pPr>
            <a:r>
              <a:rPr lang="en-US" sz="3000" b="1" dirty="0">
                <a:solidFill>
                  <a:srgbClr val="746558"/>
                </a:solidFill>
                <a:latin typeface="Gelasio" pitchFamily="34" charset="0"/>
                <a:ea typeface="Gelasio" pitchFamily="34" charset="-122"/>
                <a:cs typeface="Gelasio" pitchFamily="34" charset="-120"/>
              </a:rPr>
              <a:t>Successful OAI Setup:</a:t>
            </a:r>
            <a:endParaRPr lang="en-US" sz="3000" b="1" dirty="0"/>
          </a:p>
        </p:txBody>
      </p:sp>
      <p:sp>
        <p:nvSpPr>
          <p:cNvPr id="4" name="Text 2"/>
          <p:cNvSpPr/>
          <p:nvPr/>
        </p:nvSpPr>
        <p:spPr>
          <a:xfrm>
            <a:off x="793784" y="2698748"/>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Installed and configured OpenAirInterface (OAI) — a full 5G open-source RAN and Core Network stack.</a:t>
            </a:r>
            <a:endParaRPr lang="en-US" sz="1750" dirty="0"/>
          </a:p>
        </p:txBody>
      </p:sp>
      <p:sp>
        <p:nvSpPr>
          <p:cNvPr id="5" name="Text 3"/>
          <p:cNvSpPr/>
          <p:nvPr/>
        </p:nvSpPr>
        <p:spPr>
          <a:xfrm>
            <a:off x="793783" y="3062322"/>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Verified connectivity and functionality between gNB (base station) and UE (user equipment).</a:t>
            </a:r>
            <a:endParaRPr lang="en-US" sz="1750" dirty="0"/>
          </a:p>
        </p:txBody>
      </p:sp>
      <p:sp>
        <p:nvSpPr>
          <p:cNvPr id="6" name="Text 4"/>
          <p:cNvSpPr/>
          <p:nvPr/>
        </p:nvSpPr>
        <p:spPr>
          <a:xfrm>
            <a:off x="793790" y="3662240"/>
            <a:ext cx="13042821" cy="362903"/>
          </a:xfrm>
          <a:prstGeom prst="rect">
            <a:avLst/>
          </a:prstGeom>
          <a:noFill/>
          <a:ln/>
        </p:spPr>
        <p:txBody>
          <a:bodyPr wrap="none" lIns="0" tIns="0" rIns="0" bIns="0" rtlCol="0" anchor="t"/>
          <a:lstStyle/>
          <a:p>
            <a:pPr algn="l">
              <a:lnSpc>
                <a:spcPts val="2850"/>
              </a:lnSpc>
              <a:buSzPct val="100000"/>
            </a:pPr>
            <a:r>
              <a:rPr lang="en-US" sz="3000" b="1" dirty="0">
                <a:solidFill>
                  <a:srgbClr val="746558"/>
                </a:solidFill>
                <a:latin typeface="Gelasio" pitchFamily="34" charset="0"/>
                <a:ea typeface="Gelasio" pitchFamily="34" charset="-122"/>
                <a:cs typeface="Gelasio" pitchFamily="34" charset="-120"/>
              </a:rPr>
              <a:t>2. Deployment on Kubernetes:</a:t>
            </a:r>
            <a:endParaRPr lang="en-US" sz="3000" b="1" dirty="0"/>
          </a:p>
        </p:txBody>
      </p:sp>
      <p:sp>
        <p:nvSpPr>
          <p:cNvPr id="7" name="Text 5"/>
          <p:cNvSpPr/>
          <p:nvPr/>
        </p:nvSpPr>
        <p:spPr>
          <a:xfrm>
            <a:off x="793782" y="4233879"/>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Deployed the OAI components (gNB, AMF, SMF, UPF, UEs) using Kubernetes for cloud-native, scalable orchestration.</a:t>
            </a:r>
            <a:endParaRPr lang="en-US" sz="1750" dirty="0"/>
          </a:p>
        </p:txBody>
      </p:sp>
      <p:sp>
        <p:nvSpPr>
          <p:cNvPr id="8" name="Text 6"/>
          <p:cNvSpPr/>
          <p:nvPr/>
        </p:nvSpPr>
        <p:spPr>
          <a:xfrm>
            <a:off x="793790" y="4596782"/>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This setup enables flexible testing, containerization, and real-time management of network components.</a:t>
            </a:r>
            <a:endParaRPr lang="en-US" sz="1750" dirty="0"/>
          </a:p>
        </p:txBody>
      </p:sp>
      <p:sp>
        <p:nvSpPr>
          <p:cNvPr id="9" name="Text 7"/>
          <p:cNvSpPr/>
          <p:nvPr/>
        </p:nvSpPr>
        <p:spPr>
          <a:xfrm>
            <a:off x="793781" y="5392489"/>
            <a:ext cx="13042821" cy="362903"/>
          </a:xfrm>
          <a:prstGeom prst="rect">
            <a:avLst/>
          </a:prstGeom>
          <a:noFill/>
          <a:ln/>
        </p:spPr>
        <p:txBody>
          <a:bodyPr wrap="none" lIns="0" tIns="0" rIns="0" bIns="0" rtlCol="0" anchor="t"/>
          <a:lstStyle/>
          <a:p>
            <a:pPr algn="l">
              <a:lnSpc>
                <a:spcPts val="2850"/>
              </a:lnSpc>
              <a:buSzPct val="100000"/>
            </a:pPr>
            <a:r>
              <a:rPr lang="en-US" sz="3000" b="1" dirty="0">
                <a:solidFill>
                  <a:srgbClr val="746558"/>
                </a:solidFill>
                <a:latin typeface="Gelasio" pitchFamily="34" charset="0"/>
                <a:ea typeface="Gelasio" pitchFamily="34" charset="-122"/>
                <a:cs typeface="Gelasio" pitchFamily="34" charset="-120"/>
              </a:rPr>
              <a:t>3. </a:t>
            </a:r>
            <a:r>
              <a:rPr lang="en-US" sz="3000" b="1" dirty="0" err="1">
                <a:solidFill>
                  <a:srgbClr val="746558"/>
                </a:solidFill>
                <a:latin typeface="Gelasio" pitchFamily="34" charset="0"/>
                <a:ea typeface="Gelasio" pitchFamily="34" charset="-122"/>
                <a:cs typeface="Gelasio" pitchFamily="34" charset="-120"/>
              </a:rPr>
              <a:t>FlexRIC</a:t>
            </a:r>
            <a:r>
              <a:rPr lang="en-US" sz="3000" b="1" dirty="0">
                <a:solidFill>
                  <a:srgbClr val="746558"/>
                </a:solidFill>
                <a:latin typeface="Gelasio" pitchFamily="34" charset="0"/>
                <a:ea typeface="Gelasio" pitchFamily="34" charset="-122"/>
                <a:cs typeface="Gelasio" pitchFamily="34" charset="-120"/>
              </a:rPr>
              <a:t> Installation</a:t>
            </a:r>
            <a:r>
              <a:rPr lang="en-US" sz="3000" dirty="0">
                <a:solidFill>
                  <a:srgbClr val="746558"/>
                </a:solidFill>
                <a:latin typeface="Gelasio" pitchFamily="34" charset="0"/>
                <a:ea typeface="Gelasio" pitchFamily="34" charset="-122"/>
                <a:cs typeface="Gelasio" pitchFamily="34" charset="-120"/>
              </a:rPr>
              <a:t>:</a:t>
            </a:r>
            <a:endParaRPr lang="en-US" sz="3000" dirty="0"/>
          </a:p>
        </p:txBody>
      </p:sp>
      <p:sp>
        <p:nvSpPr>
          <p:cNvPr id="10" name="Text 8"/>
          <p:cNvSpPr/>
          <p:nvPr/>
        </p:nvSpPr>
        <p:spPr>
          <a:xfrm>
            <a:off x="793790" y="5962439"/>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Successfully installed and integrated FlexRIC, a lightweight and flexible Near-Real-Time RAN Intelligent Controller (RIC).</a:t>
            </a:r>
            <a:endParaRPr lang="en-US" sz="1750" dirty="0"/>
          </a:p>
        </p:txBody>
      </p:sp>
      <p:sp>
        <p:nvSpPr>
          <p:cNvPr id="11" name="Text 9"/>
          <p:cNvSpPr/>
          <p:nvPr/>
        </p:nvSpPr>
        <p:spPr>
          <a:xfrm>
            <a:off x="793790" y="6350434"/>
            <a:ext cx="13042821" cy="725805"/>
          </a:xfrm>
          <a:prstGeom prst="rect">
            <a:avLst/>
          </a:prstGeom>
          <a:noFill/>
          <a:ln/>
        </p:spPr>
        <p:txBody>
          <a:bodyPr wrap="square" lIns="0" tIns="0" rIns="0" bIns="0" rtlCol="0" anchor="t"/>
          <a:lstStyle/>
          <a:p>
            <a:pPr marL="685800" lvl="1" indent="-342900" algn="l">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This establishes the foundation for developing and testing custom xApps, enabling real-time, closed-loop control of RAN functions like scheduling.</a:t>
            </a:r>
            <a:endParaRPr lang="en-US" sz="1750" dirty="0"/>
          </a:p>
        </p:txBody>
      </p:sp>
      <p:sp>
        <p:nvSpPr>
          <p:cNvPr id="12" name="Rectangle 11">
            <a:extLst>
              <a:ext uri="{FF2B5EF4-FFF2-40B4-BE49-F238E27FC236}">
                <a16:creationId xmlns:a16="http://schemas.microsoft.com/office/drawing/2014/main" xmlns="" id="{0C469534-90A6-66E7-2499-D29606B355EC}"/>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7937" y="7716942"/>
            <a:ext cx="169545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WhatsApp Video 2025-10-11 at 10.07.00_2effde6c.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06213" y="1438507"/>
            <a:ext cx="11617973" cy="6479253"/>
          </a:xfrm>
          <a:prstGeom prst="rect">
            <a:avLst/>
          </a:prstGeom>
        </p:spPr>
      </p:pic>
      <p:sp>
        <p:nvSpPr>
          <p:cNvPr id="3" name="Text 0">
            <a:extLst>
              <a:ext uri="{FF2B5EF4-FFF2-40B4-BE49-F238E27FC236}">
                <a16:creationId xmlns:a16="http://schemas.microsoft.com/office/drawing/2014/main" xmlns="" id="{83CFBF28-044A-2741-75F2-7988A5CEA68A}"/>
              </a:ext>
            </a:extLst>
          </p:cNvPr>
          <p:cNvSpPr/>
          <p:nvPr/>
        </p:nvSpPr>
        <p:spPr>
          <a:xfrm>
            <a:off x="616982" y="484823"/>
            <a:ext cx="2864644" cy="358021"/>
          </a:xfrm>
          <a:prstGeom prst="rect">
            <a:avLst/>
          </a:prstGeom>
          <a:noFill/>
          <a:ln/>
        </p:spPr>
        <p:txBody>
          <a:bodyPr wrap="none" lIns="0" tIns="0" rIns="0" bIns="0" rtlCol="0" anchor="t"/>
          <a:lstStyle/>
          <a:p>
            <a:pPr marL="0" indent="0" algn="l">
              <a:lnSpc>
                <a:spcPts val="2800"/>
              </a:lnSpc>
              <a:buNone/>
            </a:pPr>
            <a:r>
              <a:rPr lang="en-US" sz="4450" b="1" dirty="0">
                <a:solidFill>
                  <a:srgbClr val="746558"/>
                </a:solidFill>
                <a:latin typeface="Gelasio Semi Bold" pitchFamily="34" charset="0"/>
                <a:cs typeface="Gelasio Semi Bold" pitchFamily="34" charset="-120"/>
              </a:rPr>
              <a:t>Successful Environmental Setup of OAI</a:t>
            </a:r>
            <a:endParaRPr lang="en-US" sz="4450" b="1" dirty="0">
              <a:solidFill>
                <a:srgbClr val="746558"/>
              </a:solidFill>
            </a:endParaRPr>
          </a:p>
        </p:txBody>
      </p:sp>
    </p:spTree>
    <p:extLst>
      <p:ext uri="{BB962C8B-B14F-4D97-AF65-F5344CB8AC3E}">
        <p14:creationId xmlns:p14="http://schemas.microsoft.com/office/powerpoint/2010/main" val="6029847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39854"/>
            <a:ext cx="5387102" cy="673418"/>
          </a:xfrm>
          <a:prstGeom prst="rect">
            <a:avLst/>
          </a:prstGeom>
          <a:noFill/>
          <a:ln/>
        </p:spPr>
        <p:txBody>
          <a:bodyPr wrap="none" lIns="0" tIns="0" rIns="0" bIns="0" rtlCol="0" anchor="t"/>
          <a:lstStyle/>
          <a:p>
            <a:pPr marL="0" indent="0" algn="l">
              <a:lnSpc>
                <a:spcPts val="5300"/>
              </a:lnSpc>
              <a:buNone/>
            </a:pPr>
            <a:r>
              <a:rPr lang="en-US" sz="4200" dirty="0">
                <a:solidFill>
                  <a:srgbClr val="746558"/>
                </a:solidFill>
                <a:latin typeface="Gelasio Semi Bold" pitchFamily="34" charset="0"/>
                <a:ea typeface="Gelasio Semi Bold" pitchFamily="34" charset="-122"/>
                <a:cs typeface="Gelasio Semi Bold" pitchFamily="34" charset="-120"/>
              </a:rPr>
              <a:t>Feasibility Study</a:t>
            </a:r>
            <a:endParaRPr lang="en-US" sz="4200" dirty="0">
              <a:solidFill>
                <a:srgbClr val="746558"/>
              </a:solidFill>
            </a:endParaRPr>
          </a:p>
        </p:txBody>
      </p:sp>
      <p:sp>
        <p:nvSpPr>
          <p:cNvPr id="3" name="Text 1"/>
          <p:cNvSpPr/>
          <p:nvPr/>
        </p:nvSpPr>
        <p:spPr>
          <a:xfrm>
            <a:off x="793790" y="1834111"/>
            <a:ext cx="13042821" cy="344805"/>
          </a:xfrm>
          <a:prstGeom prst="rect">
            <a:avLst/>
          </a:prstGeom>
          <a:noFill/>
          <a:ln/>
        </p:spPr>
        <p:txBody>
          <a:bodyPr wrap="none" lIns="0" tIns="0" rIns="0" bIns="0" rtlCol="0" anchor="t"/>
          <a:lstStyle/>
          <a:p>
            <a:pPr algn="l">
              <a:lnSpc>
                <a:spcPts val="2700"/>
              </a:lnSpc>
              <a:buSzPct val="100000"/>
            </a:pPr>
            <a:r>
              <a:rPr lang="en-US" sz="3000" b="1" dirty="0">
                <a:solidFill>
                  <a:srgbClr val="746558"/>
                </a:solidFill>
                <a:latin typeface="Gelasio" pitchFamily="34" charset="0"/>
                <a:ea typeface="Gelasio" pitchFamily="34" charset="-122"/>
                <a:cs typeface="Gelasio" pitchFamily="34" charset="-120"/>
              </a:rPr>
              <a:t>4. Scheduler Modification:</a:t>
            </a:r>
            <a:endParaRPr lang="en-US" sz="3000" b="1" dirty="0"/>
          </a:p>
        </p:txBody>
      </p:sp>
      <p:sp>
        <p:nvSpPr>
          <p:cNvPr id="4" name="Text 2"/>
          <p:cNvSpPr/>
          <p:nvPr/>
        </p:nvSpPr>
        <p:spPr>
          <a:xfrm>
            <a:off x="793790" y="2264331"/>
            <a:ext cx="13042821" cy="344805"/>
          </a:xfrm>
          <a:prstGeom prst="rect">
            <a:avLst/>
          </a:prstGeom>
          <a:noFill/>
          <a:ln/>
        </p:spPr>
        <p:txBody>
          <a:bodyPr wrap="none" lIns="0" tIns="0" rIns="0" bIns="0" rtlCol="0" anchor="t"/>
          <a:lstStyle/>
          <a:p>
            <a:pPr marL="685800" lvl="1" indent="-342900" algn="l">
              <a:lnSpc>
                <a:spcPts val="2700"/>
              </a:lnSpc>
              <a:buSzPct val="100000"/>
              <a:buChar char="•"/>
            </a:pPr>
            <a:r>
              <a:rPr lang="en-US" sz="1650" b="1" dirty="0">
                <a:solidFill>
                  <a:srgbClr val="746558"/>
                </a:solidFill>
                <a:latin typeface="Gelasio" pitchFamily="34" charset="0"/>
                <a:ea typeface="Gelasio" pitchFamily="34" charset="-122"/>
                <a:cs typeface="Gelasio" pitchFamily="34" charset="-120"/>
              </a:rPr>
              <a:t>File paths modified:</a:t>
            </a:r>
            <a:endParaRPr lang="en-US" sz="1650" dirty="0"/>
          </a:p>
        </p:txBody>
      </p:sp>
      <p:sp>
        <p:nvSpPr>
          <p:cNvPr id="5" name="Text 3"/>
          <p:cNvSpPr/>
          <p:nvPr/>
        </p:nvSpPr>
        <p:spPr>
          <a:xfrm>
            <a:off x="793790" y="2684502"/>
            <a:ext cx="13042821" cy="344805"/>
          </a:xfrm>
          <a:prstGeom prst="rect">
            <a:avLst/>
          </a:prstGeom>
          <a:noFill/>
          <a:ln/>
        </p:spPr>
        <p:txBody>
          <a:bodyPr wrap="none" lIns="0" tIns="0" rIns="0" bIns="0" rtlCol="0" anchor="t"/>
          <a:lstStyle/>
          <a:p>
            <a:pPr marL="1028700" lvl="2" indent="-342900" algn="l">
              <a:lnSpc>
                <a:spcPts val="2700"/>
              </a:lnSpc>
              <a:buSzPct val="100000"/>
              <a:buChar char="•"/>
            </a:pPr>
            <a:r>
              <a:rPr lang="en-US" sz="1650" b="1" i="1" dirty="0">
                <a:solidFill>
                  <a:srgbClr val="746558"/>
                </a:solidFill>
                <a:latin typeface="Gelasio" pitchFamily="34" charset="0"/>
                <a:ea typeface="Gelasio" pitchFamily="34" charset="-122"/>
                <a:cs typeface="Gelasio" pitchFamily="34" charset="-120"/>
              </a:rPr>
              <a:t>openair2/LAYER2/NR_MAC_gNB/gnb_scheduler_dlsch.c</a:t>
            </a:r>
            <a:r>
              <a:rPr lang="en-US" sz="1650" b="1" dirty="0">
                <a:solidFill>
                  <a:srgbClr val="746558"/>
                </a:solidFill>
                <a:latin typeface="Gelasio" pitchFamily="34" charset="0"/>
                <a:ea typeface="Gelasio" pitchFamily="34" charset="-122"/>
                <a:cs typeface="Gelasio" pitchFamily="34" charset="-120"/>
              </a:rPr>
              <a:t> (Downlink Scheduling)</a:t>
            </a:r>
            <a:endParaRPr lang="en-US" sz="1650" b="1" dirty="0"/>
          </a:p>
        </p:txBody>
      </p:sp>
      <p:sp>
        <p:nvSpPr>
          <p:cNvPr id="6" name="Text 4"/>
          <p:cNvSpPr/>
          <p:nvPr/>
        </p:nvSpPr>
        <p:spPr>
          <a:xfrm>
            <a:off x="793790" y="3114722"/>
            <a:ext cx="13042821" cy="344805"/>
          </a:xfrm>
          <a:prstGeom prst="rect">
            <a:avLst/>
          </a:prstGeom>
          <a:noFill/>
          <a:ln/>
        </p:spPr>
        <p:txBody>
          <a:bodyPr wrap="none" lIns="0" tIns="0" rIns="0" bIns="0" rtlCol="0" anchor="t"/>
          <a:lstStyle/>
          <a:p>
            <a:pPr marL="1028700" lvl="2" indent="-342900" algn="l">
              <a:lnSpc>
                <a:spcPts val="2700"/>
              </a:lnSpc>
              <a:buSzPct val="100000"/>
              <a:buChar char="•"/>
            </a:pPr>
            <a:r>
              <a:rPr lang="en-US" sz="1650" b="1" i="1" dirty="0">
                <a:solidFill>
                  <a:srgbClr val="746558"/>
                </a:solidFill>
                <a:latin typeface="Gelasio" pitchFamily="34" charset="0"/>
                <a:ea typeface="Gelasio" pitchFamily="34" charset="-122"/>
                <a:cs typeface="Gelasio" pitchFamily="34" charset="-120"/>
              </a:rPr>
              <a:t>openair2/LAYER2/NR_MAC_gNB/gnb_scheduler_ulsch.c</a:t>
            </a:r>
            <a:r>
              <a:rPr lang="en-US" sz="1650" b="1" dirty="0">
                <a:solidFill>
                  <a:srgbClr val="746558"/>
                </a:solidFill>
                <a:latin typeface="Gelasio" pitchFamily="34" charset="0"/>
                <a:ea typeface="Gelasio" pitchFamily="34" charset="-122"/>
                <a:cs typeface="Gelasio" pitchFamily="34" charset="-120"/>
              </a:rPr>
              <a:t> (Uplink Scheduling)</a:t>
            </a:r>
            <a:endParaRPr lang="en-US" sz="1650" b="1" dirty="0"/>
          </a:p>
        </p:txBody>
      </p:sp>
      <p:sp>
        <p:nvSpPr>
          <p:cNvPr id="7" name="Text 5"/>
          <p:cNvSpPr/>
          <p:nvPr/>
        </p:nvSpPr>
        <p:spPr>
          <a:xfrm>
            <a:off x="793790" y="3524845"/>
            <a:ext cx="13042821" cy="344805"/>
          </a:xfrm>
          <a:prstGeom prst="rect">
            <a:avLst/>
          </a:prstGeom>
          <a:noFill/>
          <a:ln/>
        </p:spPr>
        <p:txBody>
          <a:bodyPr wrap="none" lIns="0" tIns="0" rIns="0" bIns="0" rtlCol="0" anchor="t"/>
          <a:lstStyle/>
          <a:p>
            <a:pPr marL="685800" lvl="1" indent="-342900" algn="l">
              <a:lnSpc>
                <a:spcPts val="2700"/>
              </a:lnSpc>
              <a:buSzPct val="100000"/>
              <a:buChar char="•"/>
            </a:pPr>
            <a:r>
              <a:rPr lang="en-US" sz="1650" dirty="0">
                <a:solidFill>
                  <a:srgbClr val="746558"/>
                </a:solidFill>
                <a:latin typeface="Gelasio" pitchFamily="34" charset="0"/>
                <a:ea typeface="Gelasio" pitchFamily="34" charset="-122"/>
                <a:cs typeface="Gelasio" pitchFamily="34" charset="-120"/>
              </a:rPr>
              <a:t>Implemented new algorithms:</a:t>
            </a:r>
            <a:endParaRPr lang="en-US" sz="1650" dirty="0"/>
          </a:p>
        </p:txBody>
      </p:sp>
      <p:sp>
        <p:nvSpPr>
          <p:cNvPr id="8" name="Text 6"/>
          <p:cNvSpPr/>
          <p:nvPr/>
        </p:nvSpPr>
        <p:spPr>
          <a:xfrm>
            <a:off x="793790" y="3945017"/>
            <a:ext cx="13042821" cy="344805"/>
          </a:xfrm>
          <a:prstGeom prst="rect">
            <a:avLst/>
          </a:prstGeom>
          <a:noFill/>
          <a:ln/>
        </p:spPr>
        <p:txBody>
          <a:bodyPr wrap="none" lIns="0" tIns="0" rIns="0" bIns="0" rtlCol="0" anchor="t"/>
          <a:lstStyle/>
          <a:p>
            <a:pPr marL="1028700" lvl="2" indent="-342900" algn="l">
              <a:lnSpc>
                <a:spcPts val="2700"/>
              </a:lnSpc>
              <a:buSzPct val="100000"/>
              <a:buChar char="•"/>
            </a:pPr>
            <a:r>
              <a:rPr lang="en-US" sz="1650" b="1" dirty="0">
                <a:solidFill>
                  <a:srgbClr val="746558"/>
                </a:solidFill>
                <a:latin typeface="Gelasio" pitchFamily="34" charset="0"/>
                <a:ea typeface="Gelasio" pitchFamily="34" charset="-122"/>
                <a:cs typeface="Gelasio" pitchFamily="34" charset="-120"/>
              </a:rPr>
              <a:t>True Round Robin (RR) </a:t>
            </a:r>
            <a:r>
              <a:rPr lang="en-US" sz="1650" dirty="0">
                <a:solidFill>
                  <a:srgbClr val="746558"/>
                </a:solidFill>
                <a:latin typeface="Gelasio" pitchFamily="34" charset="0"/>
                <a:ea typeface="Gelasio" pitchFamily="34" charset="-122"/>
                <a:cs typeface="Gelasio" pitchFamily="34" charset="-120"/>
              </a:rPr>
              <a:t>— Equal time/frequency resource allocation among all active UEs.</a:t>
            </a:r>
            <a:endParaRPr lang="en-US" sz="1650" dirty="0"/>
          </a:p>
        </p:txBody>
      </p:sp>
      <p:sp>
        <p:nvSpPr>
          <p:cNvPr id="9" name="Text 7"/>
          <p:cNvSpPr/>
          <p:nvPr/>
        </p:nvSpPr>
        <p:spPr>
          <a:xfrm>
            <a:off x="793790" y="4365188"/>
            <a:ext cx="13042821" cy="344805"/>
          </a:xfrm>
          <a:prstGeom prst="rect">
            <a:avLst/>
          </a:prstGeom>
          <a:noFill/>
          <a:ln/>
        </p:spPr>
        <p:txBody>
          <a:bodyPr wrap="none" lIns="0" tIns="0" rIns="0" bIns="0" rtlCol="0" anchor="t"/>
          <a:lstStyle/>
          <a:p>
            <a:pPr marL="1028700" lvl="2" indent="-342900" algn="l">
              <a:lnSpc>
                <a:spcPts val="2700"/>
              </a:lnSpc>
              <a:buSzPct val="100000"/>
              <a:buChar char="•"/>
            </a:pPr>
            <a:r>
              <a:rPr lang="en-US" sz="1650" b="1" dirty="0">
                <a:solidFill>
                  <a:srgbClr val="746558"/>
                </a:solidFill>
                <a:latin typeface="Gelasio" pitchFamily="34" charset="0"/>
                <a:ea typeface="Gelasio" pitchFamily="34" charset="-122"/>
                <a:cs typeface="Gelasio" pitchFamily="34" charset="-120"/>
              </a:rPr>
              <a:t>Weighted Round Robin (WRR) </a:t>
            </a:r>
            <a:r>
              <a:rPr lang="en-US" sz="1650" dirty="0">
                <a:solidFill>
                  <a:srgbClr val="746558"/>
                </a:solidFill>
                <a:latin typeface="Gelasio" pitchFamily="34" charset="0"/>
                <a:ea typeface="Gelasio" pitchFamily="34" charset="-122"/>
                <a:cs typeface="Gelasio" pitchFamily="34" charset="-120"/>
              </a:rPr>
              <a:t>— Resource allocation based on priority weights or channel conditions.</a:t>
            </a:r>
            <a:endParaRPr lang="en-US" sz="1650" dirty="0"/>
          </a:p>
        </p:txBody>
      </p:sp>
      <p:sp>
        <p:nvSpPr>
          <p:cNvPr id="10" name="Text 8"/>
          <p:cNvSpPr/>
          <p:nvPr/>
        </p:nvSpPr>
        <p:spPr>
          <a:xfrm>
            <a:off x="793790" y="4952405"/>
            <a:ext cx="13042821" cy="344805"/>
          </a:xfrm>
          <a:prstGeom prst="rect">
            <a:avLst/>
          </a:prstGeom>
          <a:noFill/>
          <a:ln/>
        </p:spPr>
        <p:txBody>
          <a:bodyPr wrap="none" lIns="0" tIns="0" rIns="0" bIns="0" rtlCol="0" anchor="t"/>
          <a:lstStyle/>
          <a:p>
            <a:pPr marL="0" indent="0" algn="l">
              <a:lnSpc>
                <a:spcPts val="2700"/>
              </a:lnSpc>
              <a:buNone/>
            </a:pPr>
            <a:r>
              <a:rPr lang="en-US" sz="1650" dirty="0">
                <a:solidFill>
                  <a:srgbClr val="746558"/>
                </a:solidFill>
                <a:latin typeface="Gelasio" pitchFamily="34" charset="0"/>
                <a:ea typeface="Gelasio" pitchFamily="34" charset="-122"/>
                <a:cs typeface="Gelasio" pitchFamily="34" charset="-120"/>
              </a:rPr>
              <a:t>This allowed for comparative evaluation between PF, RR, and WRR scheduling strategies.</a:t>
            </a:r>
            <a:endParaRPr lang="en-US" sz="1650" dirty="0"/>
          </a:p>
        </p:txBody>
      </p:sp>
      <p:sp>
        <p:nvSpPr>
          <p:cNvPr id="11" name="Text 9"/>
          <p:cNvSpPr/>
          <p:nvPr/>
        </p:nvSpPr>
        <p:spPr>
          <a:xfrm>
            <a:off x="793790" y="5539621"/>
            <a:ext cx="13042821" cy="344805"/>
          </a:xfrm>
          <a:prstGeom prst="rect">
            <a:avLst/>
          </a:prstGeom>
          <a:noFill/>
          <a:ln/>
        </p:spPr>
        <p:txBody>
          <a:bodyPr wrap="none" lIns="0" tIns="0" rIns="0" bIns="0" rtlCol="0" anchor="t"/>
          <a:lstStyle/>
          <a:p>
            <a:pPr algn="l">
              <a:lnSpc>
                <a:spcPts val="2700"/>
              </a:lnSpc>
              <a:buSzPct val="100000"/>
            </a:pPr>
            <a:r>
              <a:rPr lang="en-US" sz="3000" b="1" dirty="0">
                <a:solidFill>
                  <a:srgbClr val="746558"/>
                </a:solidFill>
                <a:latin typeface="Gelasio" pitchFamily="34" charset="0"/>
                <a:ea typeface="Gelasio" pitchFamily="34" charset="-122"/>
                <a:cs typeface="Gelasio" pitchFamily="34" charset="-120"/>
              </a:rPr>
              <a:t>5. Dataset Generation:</a:t>
            </a:r>
            <a:endParaRPr lang="en-US" sz="3000" b="1" dirty="0"/>
          </a:p>
        </p:txBody>
      </p:sp>
      <p:sp>
        <p:nvSpPr>
          <p:cNvPr id="12" name="Text 10"/>
          <p:cNvSpPr/>
          <p:nvPr/>
        </p:nvSpPr>
        <p:spPr>
          <a:xfrm>
            <a:off x="793790" y="5959793"/>
            <a:ext cx="13042821" cy="344805"/>
          </a:xfrm>
          <a:prstGeom prst="rect">
            <a:avLst/>
          </a:prstGeom>
          <a:noFill/>
          <a:ln/>
        </p:spPr>
        <p:txBody>
          <a:bodyPr wrap="none" lIns="0" tIns="0" rIns="0" bIns="0" rtlCol="0" anchor="t"/>
          <a:lstStyle/>
          <a:p>
            <a:pPr marL="685800" lvl="1" indent="-342900" algn="l">
              <a:lnSpc>
                <a:spcPts val="2700"/>
              </a:lnSpc>
              <a:buSzPct val="100000"/>
              <a:buChar char="•"/>
            </a:pPr>
            <a:r>
              <a:rPr lang="en-US" sz="1650" dirty="0">
                <a:solidFill>
                  <a:srgbClr val="746558"/>
                </a:solidFill>
                <a:latin typeface="Gelasio" pitchFamily="34" charset="0"/>
                <a:ea typeface="Gelasio" pitchFamily="34" charset="-122"/>
                <a:cs typeface="Gelasio" pitchFamily="34" charset="-120"/>
              </a:rPr>
              <a:t>Captured network traffic and scheduling data using OAI logs and packet captures (.pcap files).</a:t>
            </a:r>
            <a:endParaRPr lang="en-US" sz="1650" dirty="0"/>
          </a:p>
        </p:txBody>
      </p:sp>
      <p:sp>
        <p:nvSpPr>
          <p:cNvPr id="13" name="Text 11"/>
          <p:cNvSpPr/>
          <p:nvPr/>
        </p:nvSpPr>
        <p:spPr>
          <a:xfrm>
            <a:off x="793790" y="6379964"/>
            <a:ext cx="13042821" cy="689610"/>
          </a:xfrm>
          <a:prstGeom prst="rect">
            <a:avLst/>
          </a:prstGeom>
          <a:noFill/>
          <a:ln/>
        </p:spPr>
        <p:txBody>
          <a:bodyPr wrap="square" lIns="0" tIns="0" rIns="0" bIns="0" rtlCol="0" anchor="t"/>
          <a:lstStyle/>
          <a:p>
            <a:pPr marL="685800" lvl="1" indent="-342900" algn="l">
              <a:lnSpc>
                <a:spcPts val="2700"/>
              </a:lnSpc>
              <a:buSzPct val="100000"/>
              <a:buChar char="•"/>
            </a:pPr>
            <a:r>
              <a:rPr lang="en-US" sz="1650" dirty="0">
                <a:solidFill>
                  <a:srgbClr val="746558"/>
                </a:solidFill>
                <a:latin typeface="Gelasio" pitchFamily="34" charset="0"/>
                <a:ea typeface="Gelasio" pitchFamily="34" charset="-122"/>
                <a:cs typeface="Gelasio" pitchFamily="34" charset="-120"/>
              </a:rPr>
              <a:t>Extracted and processed more than 80 network-level and user-level features relevant for RAN scheduling (e.g., CQI, MCS, throughput, PRB usage, buffer status, delay, etc.).</a:t>
            </a:r>
            <a:endParaRPr lang="en-US" sz="1650" dirty="0"/>
          </a:p>
        </p:txBody>
      </p:sp>
      <p:sp>
        <p:nvSpPr>
          <p:cNvPr id="14" name="Text 12"/>
          <p:cNvSpPr/>
          <p:nvPr/>
        </p:nvSpPr>
        <p:spPr>
          <a:xfrm>
            <a:off x="793790" y="7144941"/>
            <a:ext cx="13042821" cy="344805"/>
          </a:xfrm>
          <a:prstGeom prst="rect">
            <a:avLst/>
          </a:prstGeom>
          <a:noFill/>
          <a:ln/>
        </p:spPr>
        <p:txBody>
          <a:bodyPr wrap="none" lIns="0" tIns="0" rIns="0" bIns="0" rtlCol="0" anchor="t"/>
          <a:lstStyle/>
          <a:p>
            <a:pPr marL="685800" lvl="1" indent="-342900" algn="l">
              <a:lnSpc>
                <a:spcPts val="2700"/>
              </a:lnSpc>
              <a:buSzPct val="100000"/>
              <a:buChar char="•"/>
            </a:pPr>
            <a:r>
              <a:rPr lang="en-US" sz="1650" dirty="0">
                <a:solidFill>
                  <a:srgbClr val="746558"/>
                </a:solidFill>
                <a:latin typeface="Gelasio" pitchFamily="34" charset="0"/>
                <a:ea typeface="Gelasio" pitchFamily="34" charset="-122"/>
                <a:cs typeface="Gelasio" pitchFamily="34" charset="-120"/>
              </a:rPr>
              <a:t>Converted the .pcap data into a structured CSV dataset, enabling further ML model training and analysis.</a:t>
            </a:r>
            <a:endParaRPr lang="en-US" sz="1650" dirty="0"/>
          </a:p>
        </p:txBody>
      </p:sp>
      <p:sp>
        <p:nvSpPr>
          <p:cNvPr id="15" name="Rectangle 14">
            <a:extLst>
              <a:ext uri="{FF2B5EF4-FFF2-40B4-BE49-F238E27FC236}">
                <a16:creationId xmlns:a16="http://schemas.microsoft.com/office/drawing/2014/main" xmlns="" id="{BF2D883E-1124-8665-63EB-2ABB61A22100}"/>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87956" y="621030"/>
            <a:ext cx="4221718" cy="527685"/>
          </a:xfrm>
          <a:prstGeom prst="rect">
            <a:avLst/>
          </a:prstGeom>
          <a:noFill/>
          <a:ln/>
        </p:spPr>
        <p:txBody>
          <a:bodyPr wrap="none" lIns="0" tIns="0" rIns="0" bIns="0" rtlCol="0" anchor="t"/>
          <a:lstStyle/>
          <a:p>
            <a:pPr marL="0" indent="0" algn="l">
              <a:lnSpc>
                <a:spcPts val="4150"/>
              </a:lnSpc>
              <a:buNone/>
            </a:pPr>
            <a:r>
              <a:rPr lang="en-US" sz="4450" b="1" dirty="0">
                <a:solidFill>
                  <a:srgbClr val="746558"/>
                </a:solidFill>
                <a:latin typeface="Gelasio Semi Bold" pitchFamily="34" charset="0"/>
                <a:ea typeface="Gelasio Semi Bold" pitchFamily="34" charset="-122"/>
                <a:cs typeface="Gelasio Semi Bold" pitchFamily="34" charset="-120"/>
              </a:rPr>
              <a:t>References</a:t>
            </a:r>
            <a:endParaRPr lang="en-US" sz="4450" b="1" dirty="0">
              <a:solidFill>
                <a:srgbClr val="746558"/>
              </a:solidFill>
            </a:endParaRPr>
          </a:p>
        </p:txBody>
      </p:sp>
      <p:sp>
        <p:nvSpPr>
          <p:cNvPr id="3" name="Text 1"/>
          <p:cNvSpPr/>
          <p:nvPr/>
        </p:nvSpPr>
        <p:spPr>
          <a:xfrm>
            <a:off x="787956" y="1486376"/>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a:pPr>
            <a:r>
              <a:rPr lang="en-US" sz="1300" b="1" dirty="0">
                <a:solidFill>
                  <a:srgbClr val="746558"/>
                </a:solidFill>
                <a:latin typeface="Gelasio" pitchFamily="34" charset="0"/>
                <a:ea typeface="Gelasio" pitchFamily="34" charset="-122"/>
                <a:cs typeface="Gelasio" pitchFamily="34" charset="-120"/>
              </a:rPr>
              <a:t>AL_ZUBAIDY, M. A., AO, A. J., &amp; Ameen, S. Y. (2021). 5g scheduling algorithm for capacity improvement using beam division at congested traffic. </a:t>
            </a:r>
            <a:r>
              <a:rPr lang="en-US" sz="1300" b="1" i="1" dirty="0">
                <a:solidFill>
                  <a:srgbClr val="746558"/>
                </a:solidFill>
                <a:latin typeface="Gelasio" pitchFamily="34" charset="0"/>
                <a:ea typeface="Gelasio" pitchFamily="34" charset="-122"/>
                <a:cs typeface="Gelasio" pitchFamily="34" charset="-120"/>
              </a:rPr>
              <a:t>Journal of Engineering Science and Technology</a:t>
            </a:r>
            <a:r>
              <a:rPr lang="en-US" sz="1300" b="1" dirty="0">
                <a:solidFill>
                  <a:srgbClr val="746558"/>
                </a:solidFill>
                <a:latin typeface="Gelasio" pitchFamily="34" charset="0"/>
                <a:ea typeface="Gelasio" pitchFamily="34" charset="-122"/>
                <a:cs typeface="Gelasio" pitchFamily="34" charset="-120"/>
              </a:rPr>
              <a:t>, </a:t>
            </a:r>
            <a:r>
              <a:rPr lang="en-US" sz="1300" b="1" i="1" dirty="0">
                <a:solidFill>
                  <a:srgbClr val="746558"/>
                </a:solidFill>
                <a:latin typeface="Gelasio" pitchFamily="34" charset="0"/>
                <a:ea typeface="Gelasio" pitchFamily="34" charset="-122"/>
                <a:cs typeface="Gelasio" pitchFamily="34" charset="-120"/>
              </a:rPr>
              <a:t>16</a:t>
            </a:r>
            <a:r>
              <a:rPr lang="en-US" sz="1300" b="1" dirty="0">
                <a:solidFill>
                  <a:srgbClr val="746558"/>
                </a:solidFill>
                <a:latin typeface="Gelasio" pitchFamily="34" charset="0"/>
                <a:ea typeface="Gelasio" pitchFamily="34" charset="-122"/>
                <a:cs typeface="Gelasio" pitchFamily="34" charset="-120"/>
              </a:rPr>
              <a:t>(3), 1977-1990.</a:t>
            </a:r>
            <a:endParaRPr lang="en-US" sz="1300" b="1" dirty="0"/>
          </a:p>
        </p:txBody>
      </p:sp>
      <p:sp>
        <p:nvSpPr>
          <p:cNvPr id="4" name="Text 2"/>
          <p:cNvSpPr/>
          <p:nvPr/>
        </p:nvSpPr>
        <p:spPr>
          <a:xfrm>
            <a:off x="787956" y="2085499"/>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2"/>
            </a:pPr>
            <a:r>
              <a:rPr lang="en-US" sz="1300" b="1" dirty="0">
                <a:solidFill>
                  <a:srgbClr val="746558"/>
                </a:solidFill>
                <a:latin typeface="Gelasio" pitchFamily="34" charset="0"/>
                <a:ea typeface="Gelasio" pitchFamily="34" charset="-122"/>
                <a:cs typeface="Gelasio" pitchFamily="34" charset="-120"/>
              </a:rPr>
              <a:t>Gudepu, V., Chintapalli, V. R., Castoldi, P., Valcarenghi, L., Tamma, B. R., &amp; Kondepu, K. (2024). The drift handling framework for open radio access networks: An experimental evaluation. </a:t>
            </a:r>
            <a:r>
              <a:rPr lang="en-US" sz="1300" b="1" i="1" dirty="0">
                <a:solidFill>
                  <a:srgbClr val="746558"/>
                </a:solidFill>
                <a:latin typeface="Gelasio" pitchFamily="34" charset="0"/>
                <a:ea typeface="Gelasio" pitchFamily="34" charset="-122"/>
                <a:cs typeface="Gelasio" pitchFamily="34" charset="-120"/>
              </a:rPr>
              <a:t>Computer Networks</a:t>
            </a:r>
            <a:r>
              <a:rPr lang="en-US" sz="1300" b="1" dirty="0">
                <a:solidFill>
                  <a:srgbClr val="746558"/>
                </a:solidFill>
                <a:latin typeface="Gelasio" pitchFamily="34" charset="0"/>
                <a:ea typeface="Gelasio" pitchFamily="34" charset="-122"/>
                <a:cs typeface="Gelasio" pitchFamily="34" charset="-120"/>
              </a:rPr>
              <a:t>, </a:t>
            </a:r>
            <a:r>
              <a:rPr lang="en-US" sz="1300" b="1" i="1" dirty="0">
                <a:solidFill>
                  <a:srgbClr val="746558"/>
                </a:solidFill>
                <a:latin typeface="Gelasio" pitchFamily="34" charset="0"/>
                <a:ea typeface="Gelasio" pitchFamily="34" charset="-122"/>
                <a:cs typeface="Gelasio" pitchFamily="34" charset="-120"/>
              </a:rPr>
              <a:t>243</a:t>
            </a:r>
            <a:r>
              <a:rPr lang="en-US" sz="1300" b="1" dirty="0">
                <a:solidFill>
                  <a:srgbClr val="746558"/>
                </a:solidFill>
                <a:latin typeface="Gelasio" pitchFamily="34" charset="0"/>
                <a:ea typeface="Gelasio" pitchFamily="34" charset="-122"/>
                <a:cs typeface="Gelasio" pitchFamily="34" charset="-120"/>
              </a:rPr>
              <a:t>, 110290.</a:t>
            </a:r>
            <a:endParaRPr lang="en-US" sz="1300" b="1" dirty="0"/>
          </a:p>
        </p:txBody>
      </p:sp>
      <p:sp>
        <p:nvSpPr>
          <p:cNvPr id="5" name="Text 3"/>
          <p:cNvSpPr/>
          <p:nvPr/>
        </p:nvSpPr>
        <p:spPr>
          <a:xfrm>
            <a:off x="787956" y="2684621"/>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3"/>
            </a:pPr>
            <a:r>
              <a:rPr lang="en-US" sz="1300" b="1" dirty="0">
                <a:solidFill>
                  <a:srgbClr val="746558"/>
                </a:solidFill>
                <a:latin typeface="Gelasio" pitchFamily="34" charset="0"/>
                <a:ea typeface="Gelasio" pitchFamily="34" charset="-122"/>
                <a:cs typeface="Gelasio" pitchFamily="34" charset="-120"/>
              </a:rPr>
              <a:t>E. J. Samson, K. Hasan, L. Hong, I. Ahmed, H. Onyeka and S. Shetty, "Optimizing 5G Network Slices: LSTM and Game Theory Synergy," </a:t>
            </a:r>
            <a:r>
              <a:rPr lang="en-US" sz="1300" b="1" i="1" dirty="0">
                <a:solidFill>
                  <a:srgbClr val="746558"/>
                </a:solidFill>
                <a:latin typeface="Gelasio" pitchFamily="34" charset="0"/>
                <a:ea typeface="Gelasio" pitchFamily="34" charset="-122"/>
                <a:cs typeface="Gelasio" pitchFamily="34" charset="-120"/>
              </a:rPr>
              <a:t>2025 International Conference on Computing, Networking and Communications (ICNC)</a:t>
            </a:r>
            <a:r>
              <a:rPr lang="en-US" sz="1300" b="1" dirty="0">
                <a:solidFill>
                  <a:srgbClr val="746558"/>
                </a:solidFill>
                <a:latin typeface="Gelasio" pitchFamily="34" charset="0"/>
                <a:ea typeface="Gelasio" pitchFamily="34" charset="-122"/>
                <a:cs typeface="Gelasio" pitchFamily="34" charset="-120"/>
              </a:rPr>
              <a:t>, Honolulu, HI, USA, 2025, pp. 282-287</a:t>
            </a:r>
            <a:endParaRPr lang="en-US" sz="1300" b="1" dirty="0"/>
          </a:p>
        </p:txBody>
      </p:sp>
      <p:sp>
        <p:nvSpPr>
          <p:cNvPr id="6" name="Text 4"/>
          <p:cNvSpPr/>
          <p:nvPr/>
        </p:nvSpPr>
        <p:spPr>
          <a:xfrm>
            <a:off x="787956" y="3283744"/>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4"/>
            </a:pPr>
            <a:r>
              <a:rPr lang="en-US" sz="1300" b="1" dirty="0">
                <a:solidFill>
                  <a:srgbClr val="746558"/>
                </a:solidFill>
                <a:latin typeface="Gelasio" pitchFamily="34" charset="0"/>
                <a:ea typeface="Gelasio" pitchFamily="34" charset="-122"/>
                <a:cs typeface="Gelasio" pitchFamily="34" charset="-120"/>
              </a:rPr>
              <a:t>Chen, Y., Yao, R., Hassanieh, H., &amp; Mittal, R. (2023). {Channel-Aware} 5g {RAN} slicing with customizable schedulers. In </a:t>
            </a:r>
            <a:r>
              <a:rPr lang="en-US" sz="1300" b="1" i="1" dirty="0">
                <a:solidFill>
                  <a:srgbClr val="746558"/>
                </a:solidFill>
                <a:latin typeface="Gelasio" pitchFamily="34" charset="0"/>
                <a:ea typeface="Gelasio" pitchFamily="34" charset="-122"/>
                <a:cs typeface="Gelasio" pitchFamily="34" charset="-120"/>
              </a:rPr>
              <a:t>20th USENIX Symposium on Networked Systems Design and Implementation (NSDI 23)</a:t>
            </a:r>
            <a:r>
              <a:rPr lang="en-US" sz="1300" b="1" dirty="0">
                <a:solidFill>
                  <a:srgbClr val="746558"/>
                </a:solidFill>
                <a:latin typeface="Gelasio" pitchFamily="34" charset="0"/>
                <a:ea typeface="Gelasio" pitchFamily="34" charset="-122"/>
                <a:cs typeface="Gelasio" pitchFamily="34" charset="-120"/>
              </a:rPr>
              <a:t> (pp. 1767-1782).</a:t>
            </a:r>
            <a:endParaRPr lang="en-US" sz="1300" b="1" dirty="0"/>
          </a:p>
        </p:txBody>
      </p:sp>
      <p:sp>
        <p:nvSpPr>
          <p:cNvPr id="7" name="Text 5"/>
          <p:cNvSpPr/>
          <p:nvPr/>
        </p:nvSpPr>
        <p:spPr>
          <a:xfrm>
            <a:off x="787956" y="3882866"/>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5"/>
            </a:pPr>
            <a:r>
              <a:rPr lang="en-US" sz="1300" b="1" dirty="0">
                <a:solidFill>
                  <a:srgbClr val="746558"/>
                </a:solidFill>
                <a:latin typeface="Gelasio" pitchFamily="34" charset="0"/>
                <a:ea typeface="Gelasio" pitchFamily="34" charset="-122"/>
                <a:cs typeface="Gelasio" pitchFamily="34" charset="-120"/>
              </a:rPr>
              <a:t>M. Polese, L. Bonati, S. D'Oro, S. Basagni and T. Melodia, "ColO-RAN: Developing Machine Learning-Based xApps for Open RAN Closed-Loop Control on Programmable Experimental Platforms," in </a:t>
            </a:r>
            <a:r>
              <a:rPr lang="en-US" sz="1300" b="1" i="1" dirty="0">
                <a:solidFill>
                  <a:srgbClr val="746558"/>
                </a:solidFill>
                <a:latin typeface="Gelasio" pitchFamily="34" charset="0"/>
                <a:ea typeface="Gelasio" pitchFamily="34" charset="-122"/>
                <a:cs typeface="Gelasio" pitchFamily="34" charset="-120"/>
              </a:rPr>
              <a:t>IEEE Transactions on Mobile Computing</a:t>
            </a:r>
            <a:r>
              <a:rPr lang="en-US" sz="1300" b="1" dirty="0">
                <a:solidFill>
                  <a:srgbClr val="746558"/>
                </a:solidFill>
                <a:latin typeface="Gelasio" pitchFamily="34" charset="0"/>
                <a:ea typeface="Gelasio" pitchFamily="34" charset="-122"/>
                <a:cs typeface="Gelasio" pitchFamily="34" charset="-120"/>
              </a:rPr>
              <a:t>, vol. 22, no. 10, pp. 5787-5800, 1 Oct. 2023</a:t>
            </a:r>
            <a:endParaRPr lang="en-US" sz="1300" b="1" dirty="0"/>
          </a:p>
        </p:txBody>
      </p:sp>
      <p:sp>
        <p:nvSpPr>
          <p:cNvPr id="8" name="Text 6"/>
          <p:cNvSpPr/>
          <p:nvPr/>
        </p:nvSpPr>
        <p:spPr>
          <a:xfrm>
            <a:off x="787956" y="4481989"/>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6"/>
            </a:pPr>
            <a:r>
              <a:rPr lang="en-US" sz="1300" b="1" dirty="0">
                <a:solidFill>
                  <a:srgbClr val="746558"/>
                </a:solidFill>
                <a:latin typeface="Gelasio" pitchFamily="34" charset="0"/>
                <a:ea typeface="Gelasio" pitchFamily="34" charset="-122"/>
                <a:cs typeface="Gelasio" pitchFamily="34" charset="-120"/>
              </a:rPr>
              <a:t>Lotfi, F., &amp; Afghah, F. (2023, October). Open RAN LSTM traffic prediction and slice management using deep reinforcement learning. In </a:t>
            </a:r>
            <a:r>
              <a:rPr lang="en-US" sz="1300" b="1" i="1" dirty="0">
                <a:solidFill>
                  <a:srgbClr val="746558"/>
                </a:solidFill>
                <a:latin typeface="Gelasio" pitchFamily="34" charset="0"/>
                <a:ea typeface="Gelasio" pitchFamily="34" charset="-122"/>
                <a:cs typeface="Gelasio" pitchFamily="34" charset="-120"/>
              </a:rPr>
              <a:t>2023 57th Asilomar Conference on Signals, Systems, and Computers</a:t>
            </a:r>
            <a:r>
              <a:rPr lang="en-US" sz="1300" b="1" dirty="0">
                <a:solidFill>
                  <a:srgbClr val="746558"/>
                </a:solidFill>
                <a:latin typeface="Gelasio" pitchFamily="34" charset="0"/>
                <a:ea typeface="Gelasio" pitchFamily="34" charset="-122"/>
                <a:cs typeface="Gelasio" pitchFamily="34" charset="-120"/>
              </a:rPr>
              <a:t> (pp. 646-650). IEEE.</a:t>
            </a:r>
            <a:endParaRPr lang="en-US" sz="1300" b="1" dirty="0"/>
          </a:p>
        </p:txBody>
      </p:sp>
      <p:sp>
        <p:nvSpPr>
          <p:cNvPr id="9" name="Text 7"/>
          <p:cNvSpPr/>
          <p:nvPr/>
        </p:nvSpPr>
        <p:spPr>
          <a:xfrm>
            <a:off x="787956" y="5081111"/>
            <a:ext cx="13054489" cy="270034"/>
          </a:xfrm>
          <a:prstGeom prst="rect">
            <a:avLst/>
          </a:prstGeom>
          <a:noFill/>
          <a:ln/>
        </p:spPr>
        <p:txBody>
          <a:bodyPr wrap="none" lIns="0" tIns="0" rIns="0" bIns="0" rtlCol="0" anchor="t"/>
          <a:lstStyle/>
          <a:p>
            <a:pPr marL="342900" indent="-342900" algn="l">
              <a:lnSpc>
                <a:spcPts val="2100"/>
              </a:lnSpc>
              <a:buSzPct val="100000"/>
              <a:buFont typeface="+mj-lt"/>
              <a:buAutoNum type="arabicPeriod" startAt="7"/>
            </a:pPr>
            <a:r>
              <a:rPr lang="en-US" sz="1300" b="1" dirty="0">
                <a:solidFill>
                  <a:srgbClr val="746558"/>
                </a:solidFill>
                <a:latin typeface="Gelasio" pitchFamily="34" charset="0"/>
                <a:ea typeface="Gelasio" pitchFamily="34" charset="-122"/>
                <a:cs typeface="Gelasio" pitchFamily="34" charset="-120"/>
              </a:rPr>
              <a:t>Orumwense, E. F., &amp; Abo-Al-Ez, K. (2023). An Optimal Scheduling Technique for Smart Grid Communications over 5G Networks. </a:t>
            </a:r>
            <a:r>
              <a:rPr lang="en-US" sz="1300" b="1" i="1" dirty="0">
                <a:solidFill>
                  <a:srgbClr val="746558"/>
                </a:solidFill>
                <a:latin typeface="Gelasio" pitchFamily="34" charset="0"/>
                <a:ea typeface="Gelasio" pitchFamily="34" charset="-122"/>
                <a:cs typeface="Gelasio" pitchFamily="34" charset="-120"/>
              </a:rPr>
              <a:t>Applied Sciences</a:t>
            </a:r>
            <a:r>
              <a:rPr lang="en-US" sz="1300" b="1" dirty="0">
                <a:solidFill>
                  <a:srgbClr val="746558"/>
                </a:solidFill>
                <a:latin typeface="Gelasio" pitchFamily="34" charset="0"/>
                <a:ea typeface="Gelasio" pitchFamily="34" charset="-122"/>
                <a:cs typeface="Gelasio" pitchFamily="34" charset="-120"/>
              </a:rPr>
              <a:t>, </a:t>
            </a:r>
            <a:r>
              <a:rPr lang="en-US" sz="1300" b="1" i="1" dirty="0">
                <a:solidFill>
                  <a:srgbClr val="746558"/>
                </a:solidFill>
                <a:latin typeface="Gelasio" pitchFamily="34" charset="0"/>
                <a:ea typeface="Gelasio" pitchFamily="34" charset="-122"/>
                <a:cs typeface="Gelasio" pitchFamily="34" charset="-120"/>
              </a:rPr>
              <a:t>13</a:t>
            </a:r>
            <a:r>
              <a:rPr lang="en-US" sz="1300" b="1" dirty="0">
                <a:solidFill>
                  <a:srgbClr val="746558"/>
                </a:solidFill>
                <a:latin typeface="Gelasio" pitchFamily="34" charset="0"/>
                <a:ea typeface="Gelasio" pitchFamily="34" charset="-122"/>
                <a:cs typeface="Gelasio" pitchFamily="34" charset="-120"/>
              </a:rPr>
              <a:t>(20), 11470.</a:t>
            </a:r>
            <a:endParaRPr lang="en-US" sz="1300" b="1" dirty="0"/>
          </a:p>
        </p:txBody>
      </p:sp>
      <p:sp>
        <p:nvSpPr>
          <p:cNvPr id="10" name="Text 8"/>
          <p:cNvSpPr/>
          <p:nvPr/>
        </p:nvSpPr>
        <p:spPr>
          <a:xfrm>
            <a:off x="787956" y="5410200"/>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8"/>
            </a:pPr>
            <a:r>
              <a:rPr lang="en-US" sz="1300" b="1" dirty="0">
                <a:solidFill>
                  <a:srgbClr val="746558"/>
                </a:solidFill>
                <a:latin typeface="Gelasio" pitchFamily="34" charset="0"/>
                <a:ea typeface="Gelasio" pitchFamily="34" charset="-122"/>
                <a:cs typeface="Gelasio" pitchFamily="34" charset="-120"/>
              </a:rPr>
              <a:t>Gudepu, V., Chirumamilla, B., Chintapalli, V. R., Castoldi, P., Valcarenghi, L., Tamma, B. R., &amp; Kondepu, K. (2025). GEN-DRIFT: Generative AI-driven drift handling for beyond 5G networks. </a:t>
            </a:r>
            <a:r>
              <a:rPr lang="en-US" sz="1300" b="1" i="1" dirty="0">
                <a:solidFill>
                  <a:srgbClr val="746558"/>
                </a:solidFill>
                <a:latin typeface="Gelasio" pitchFamily="34" charset="0"/>
                <a:ea typeface="Gelasio" pitchFamily="34" charset="-122"/>
                <a:cs typeface="Gelasio" pitchFamily="34" charset="-120"/>
              </a:rPr>
              <a:t>Computer Networks</a:t>
            </a:r>
            <a:r>
              <a:rPr lang="en-US" sz="1300" b="1" dirty="0">
                <a:solidFill>
                  <a:srgbClr val="746558"/>
                </a:solidFill>
                <a:latin typeface="Gelasio" pitchFamily="34" charset="0"/>
                <a:ea typeface="Gelasio" pitchFamily="34" charset="-122"/>
                <a:cs typeface="Gelasio" pitchFamily="34" charset="-120"/>
              </a:rPr>
              <a:t>, </a:t>
            </a:r>
            <a:r>
              <a:rPr lang="en-US" sz="1300" b="1" i="1" dirty="0">
                <a:solidFill>
                  <a:srgbClr val="746558"/>
                </a:solidFill>
                <a:latin typeface="Gelasio" pitchFamily="34" charset="0"/>
                <a:ea typeface="Gelasio" pitchFamily="34" charset="-122"/>
                <a:cs typeface="Gelasio" pitchFamily="34" charset="-120"/>
              </a:rPr>
              <a:t>263</a:t>
            </a:r>
            <a:r>
              <a:rPr lang="en-US" sz="1300" b="1" dirty="0">
                <a:solidFill>
                  <a:srgbClr val="746558"/>
                </a:solidFill>
                <a:latin typeface="Gelasio" pitchFamily="34" charset="0"/>
                <a:ea typeface="Gelasio" pitchFamily="34" charset="-122"/>
                <a:cs typeface="Gelasio" pitchFamily="34" charset="-120"/>
              </a:rPr>
              <a:t>, 111237.</a:t>
            </a:r>
            <a:endParaRPr lang="en-US" sz="1300" b="1" dirty="0"/>
          </a:p>
        </p:txBody>
      </p:sp>
      <p:sp>
        <p:nvSpPr>
          <p:cNvPr id="11" name="Text 9"/>
          <p:cNvSpPr/>
          <p:nvPr/>
        </p:nvSpPr>
        <p:spPr>
          <a:xfrm>
            <a:off x="787956" y="6009322"/>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9"/>
            </a:pPr>
            <a:r>
              <a:rPr lang="en-US" sz="1300" b="1" dirty="0">
                <a:solidFill>
                  <a:srgbClr val="746558"/>
                </a:solidFill>
                <a:latin typeface="Gelasio" pitchFamily="34" charset="0"/>
                <a:ea typeface="Gelasio" pitchFamily="34" charset="-122"/>
                <a:cs typeface="Gelasio" pitchFamily="34" charset="-120"/>
              </a:rPr>
              <a:t>Elkael, M., Polese, M., Prasad, R., Maxenti, S., &amp; Melodia, T. (2025). ALLSTaR: Automated LLM-Driven Scheduler Generation and Testing for Intent-Based RAN. </a:t>
            </a:r>
            <a:r>
              <a:rPr lang="en-US" sz="1300" b="1" i="1" dirty="0">
                <a:solidFill>
                  <a:srgbClr val="746558"/>
                </a:solidFill>
                <a:latin typeface="Gelasio" pitchFamily="34" charset="0"/>
                <a:ea typeface="Gelasio" pitchFamily="34" charset="-122"/>
                <a:cs typeface="Gelasio" pitchFamily="34" charset="-120"/>
              </a:rPr>
              <a:t>arXiv preprint arXiv:2505.18389</a:t>
            </a:r>
            <a:r>
              <a:rPr lang="en-US" sz="1300" b="1" dirty="0">
                <a:solidFill>
                  <a:srgbClr val="746558"/>
                </a:solidFill>
                <a:latin typeface="Gelasio" pitchFamily="34" charset="0"/>
                <a:ea typeface="Gelasio" pitchFamily="34" charset="-122"/>
                <a:cs typeface="Gelasio" pitchFamily="34" charset="-120"/>
              </a:rPr>
              <a:t>.</a:t>
            </a:r>
            <a:endParaRPr lang="en-US" sz="1300" b="1" dirty="0"/>
          </a:p>
        </p:txBody>
      </p:sp>
      <p:sp>
        <p:nvSpPr>
          <p:cNvPr id="12" name="Text 10"/>
          <p:cNvSpPr/>
          <p:nvPr/>
        </p:nvSpPr>
        <p:spPr>
          <a:xfrm>
            <a:off x="787956" y="6608445"/>
            <a:ext cx="13054489" cy="540068"/>
          </a:xfrm>
          <a:prstGeom prst="rect">
            <a:avLst/>
          </a:prstGeom>
          <a:noFill/>
          <a:ln/>
        </p:spPr>
        <p:txBody>
          <a:bodyPr wrap="square" lIns="0" tIns="0" rIns="0" bIns="0" rtlCol="0" anchor="t"/>
          <a:lstStyle/>
          <a:p>
            <a:pPr marL="342900" indent="-342900" algn="l">
              <a:lnSpc>
                <a:spcPts val="2100"/>
              </a:lnSpc>
              <a:buSzPct val="100000"/>
              <a:buFont typeface="+mj-lt"/>
              <a:buAutoNum type="arabicPeriod" startAt="10"/>
            </a:pPr>
            <a:r>
              <a:rPr lang="en-US" sz="1300" b="1" dirty="0">
                <a:solidFill>
                  <a:srgbClr val="746558"/>
                </a:solidFill>
                <a:latin typeface="Gelasio" pitchFamily="34" charset="0"/>
                <a:ea typeface="Gelasio" pitchFamily="34" charset="-122"/>
                <a:cs typeface="Gelasio" pitchFamily="34" charset="-120"/>
              </a:rPr>
              <a:t>T. Zhang, J. Wang, X. S. Hu and S. Han, "5G-TPS: A Two-Phase Real-Time Scheduling and Adaptation Framework for 5G Radio Access Networks," in </a:t>
            </a:r>
            <a:r>
              <a:rPr lang="en-US" sz="1300" b="1" i="1" dirty="0">
                <a:solidFill>
                  <a:srgbClr val="746558"/>
                </a:solidFill>
                <a:latin typeface="Gelasio" pitchFamily="34" charset="0"/>
                <a:ea typeface="Gelasio" pitchFamily="34" charset="-122"/>
                <a:cs typeface="Gelasio" pitchFamily="34" charset="-120"/>
              </a:rPr>
              <a:t>IEEE Transactions on Mobile Computing</a:t>
            </a:r>
            <a:endParaRPr lang="en-US" sz="1300" b="1" dirty="0"/>
          </a:p>
        </p:txBody>
      </p:sp>
      <p:sp>
        <p:nvSpPr>
          <p:cNvPr id="13" name="Rectangle 12">
            <a:extLst>
              <a:ext uri="{FF2B5EF4-FFF2-40B4-BE49-F238E27FC236}">
                <a16:creationId xmlns:a16="http://schemas.microsoft.com/office/drawing/2014/main" xmlns="" id="{1F8D2A3E-8735-D80E-D327-96CC27901DC2}"/>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Box 3"/>
          <p:cNvSpPr txBox="1"/>
          <p:nvPr/>
        </p:nvSpPr>
        <p:spPr>
          <a:xfrm>
            <a:off x="796995" y="2850998"/>
            <a:ext cx="12951349" cy="1974712"/>
          </a:xfrm>
          <a:prstGeom prst="rect">
            <a:avLst/>
          </a:prstGeom>
        </p:spPr>
        <p:txBody>
          <a:bodyPr lIns="0" tIns="0" rIns="0" bIns="0" rtlCol="0" anchor="t">
            <a:spAutoFit/>
          </a:bodyPr>
          <a:lstStyle/>
          <a:p>
            <a:pPr algn="ctr">
              <a:lnSpc>
                <a:spcPts val="16107"/>
              </a:lnSpc>
            </a:pPr>
            <a:r>
              <a:rPr lang="en-US" sz="11505" b="1" dirty="0">
                <a:solidFill>
                  <a:srgbClr val="746558"/>
                </a:solidFill>
                <a:latin typeface="Gelasio Semi Bold" charset="0"/>
                <a:ea typeface="Alexandria Bold"/>
                <a:cs typeface="Gelasio Semi Bold" charset="0"/>
                <a:sym typeface="Alexandria Bold"/>
              </a:rPr>
              <a:t>THANK YOU</a:t>
            </a:r>
          </a:p>
        </p:txBody>
      </p:sp>
      <p:sp>
        <p:nvSpPr>
          <p:cNvPr id="3" name="Rectangle 2">
            <a:extLst>
              <a:ext uri="{FF2B5EF4-FFF2-40B4-BE49-F238E27FC236}">
                <a16:creationId xmlns:a16="http://schemas.microsoft.com/office/drawing/2014/main" xmlns="" id="{DD646F4D-75DA-A548-12AC-A3B54948C82C}"/>
              </a:ext>
            </a:extLst>
          </p:cNvPr>
          <p:cNvSpPr/>
          <p:nvPr/>
        </p:nvSpPr>
        <p:spPr>
          <a:xfrm>
            <a:off x="12839700" y="7762875"/>
            <a:ext cx="1695450" cy="400050"/>
          </a:xfrm>
          <a:prstGeom prst="rect">
            <a:avLst/>
          </a:prstGeom>
          <a:solidFill>
            <a:srgbClr val="F8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607</TotalTime>
  <Words>3039</Words>
  <Application>Microsoft Office PowerPoint</Application>
  <PresentationFormat>Custom</PresentationFormat>
  <Paragraphs>170</Paragraphs>
  <Slides>25</Slides>
  <Notes>22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Gadugi</vt:lpstr>
      <vt:lpstr>Alexandria Bold</vt:lpstr>
      <vt:lpstr>Gelasio Semi Bold</vt:lpstr>
      <vt:lpstr>Gelasio SemiBold</vt:lpstr>
      <vt:lpstr>Gelasio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MyPc</dc:creator>
  <cp:lastModifiedBy>MyPc</cp:lastModifiedBy>
  <cp:revision>50</cp:revision>
  <dcterms:created xsi:type="dcterms:W3CDTF">2025-10-09T15:53:23Z</dcterms:created>
  <dcterms:modified xsi:type="dcterms:W3CDTF">2025-11-24T15:59:13Z</dcterms:modified>
</cp:coreProperties>
</file>